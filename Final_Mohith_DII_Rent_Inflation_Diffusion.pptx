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sldIdLst>
    <p:sldId id="256" r:id="rId2"/>
    <p:sldId id="268" r:id="rId3"/>
    <p:sldId id="269" r:id="rId4"/>
    <p:sldId id="270" r:id="rId5"/>
    <p:sldId id="259" r:id="rId6"/>
    <p:sldId id="289" r:id="rId7"/>
    <p:sldId id="271" r:id="rId8"/>
    <p:sldId id="267" r:id="rId9"/>
    <p:sldId id="279" r:id="rId10"/>
    <p:sldId id="280" r:id="rId11"/>
    <p:sldId id="275" r:id="rId12"/>
    <p:sldId id="288" r:id="rId13"/>
    <p:sldId id="287" r:id="rId14"/>
    <p:sldId id="277" r:id="rId15"/>
    <p:sldId id="278" r:id="rId16"/>
    <p:sldId id="274" r:id="rId17"/>
    <p:sldId id="282" r:id="rId18"/>
    <p:sldId id="284" r:id="rId19"/>
    <p:sldId id="2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031D6C-7445-4A24-80C3-617E4655FF9E}" v="2" dt="2026-06-02T15:28:54.3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2" autoAdjust="0"/>
    <p:restoredTop sz="94660"/>
  </p:normalViewPr>
  <p:slideViewPr>
    <p:cSldViewPr snapToGrid="0">
      <p:cViewPr>
        <p:scale>
          <a:sx n="100" d="100"/>
          <a:sy n="100" d="100"/>
        </p:scale>
        <p:origin x="48" y="-9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ith.kandakatla@outlook.com" userId="d4a0c86031255437" providerId="LiveId" clId="{9BE564B6-8BD1-47DA-A28E-B8270A489433}"/>
    <pc:docChg chg="modSld">
      <pc:chgData name="mohith.kandakatla@outlook.com" userId="d4a0c86031255437" providerId="LiveId" clId="{9BE564B6-8BD1-47DA-A28E-B8270A489433}" dt="2026-06-02T21:48:43.395" v="37" actId="1035"/>
      <pc:docMkLst>
        <pc:docMk/>
      </pc:docMkLst>
      <pc:sldChg chg="modSp mod">
        <pc:chgData name="mohith.kandakatla@outlook.com" userId="d4a0c86031255437" providerId="LiveId" clId="{9BE564B6-8BD1-47DA-A28E-B8270A489433}" dt="2026-06-02T15:29:20.570" v="35" actId="1076"/>
        <pc:sldMkLst>
          <pc:docMk/>
          <pc:sldMk cId="2042951758" sldId="256"/>
        </pc:sldMkLst>
        <pc:spChg chg="mod">
          <ac:chgData name="mohith.kandakatla@outlook.com" userId="d4a0c86031255437" providerId="LiveId" clId="{9BE564B6-8BD1-47DA-A28E-B8270A489433}" dt="2026-06-02T15:29:20.570" v="35" actId="1076"/>
          <ac:spMkLst>
            <pc:docMk/>
            <pc:sldMk cId="2042951758" sldId="256"/>
            <ac:spMk id="3" creationId="{C74F9BF2-B150-4DFF-AD2E-AF42E57C8F0B}"/>
          </ac:spMkLst>
        </pc:spChg>
      </pc:sldChg>
      <pc:sldChg chg="modSp mod">
        <pc:chgData name="mohith.kandakatla@outlook.com" userId="d4a0c86031255437" providerId="LiveId" clId="{9BE564B6-8BD1-47DA-A28E-B8270A489433}" dt="2026-06-02T21:48:43.395" v="37" actId="1035"/>
        <pc:sldMkLst>
          <pc:docMk/>
          <pc:sldMk cId="1027306397" sldId="267"/>
        </pc:sldMkLst>
        <pc:picChg chg="mod">
          <ac:chgData name="mohith.kandakatla@outlook.com" userId="d4a0c86031255437" providerId="LiveId" clId="{9BE564B6-8BD1-47DA-A28E-B8270A489433}" dt="2026-06-02T21:48:43.395" v="37" actId="1035"/>
          <ac:picMkLst>
            <pc:docMk/>
            <pc:sldMk cId="1027306397" sldId="267"/>
            <ac:picMk id="13" creationId="{8AD4C7A6-889D-47A0-8D7C-5FB4E73E236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5346B1-FB31-45DC-BEED-2489B9E4D61E}" type="doc">
      <dgm:prSet loTypeId="urn:microsoft.com/office/officeart/2005/8/layout/orgChart1" loCatId="hierarchy" qsTypeId="urn:microsoft.com/office/officeart/2005/8/quickstyle/simple1" qsCatId="simple" csTypeId="urn:microsoft.com/office/officeart/2005/8/colors/accent2_4" csCatId="accent2" phldr="1"/>
      <dgm:spPr/>
      <dgm:t>
        <a:bodyPr/>
        <a:lstStyle/>
        <a:p>
          <a:endParaRPr lang="en-US"/>
        </a:p>
      </dgm:t>
    </dgm:pt>
    <dgm:pt modelId="{BB3626A6-72B5-4C05-BD0E-F635231E4A7C}">
      <dgm:prSet/>
      <dgm:spPr/>
      <dgm:t>
        <a:bodyPr/>
        <a:lstStyle/>
        <a:p>
          <a:r>
            <a:rPr lang="en-US" dirty="0"/>
            <a:t>Data</a:t>
          </a:r>
        </a:p>
        <a:p>
          <a:r>
            <a:rPr lang="en-US" b="1" i="1" dirty="0"/>
            <a:t>- 6477 rows</a:t>
          </a:r>
        </a:p>
        <a:p>
          <a:r>
            <a:rPr lang="en-US" b="1" i="1" dirty="0"/>
            <a:t>- 12 columns</a:t>
          </a:r>
        </a:p>
      </dgm:t>
    </dgm:pt>
    <dgm:pt modelId="{14FE1C74-D5F3-4195-AF5A-3D162D70A6B2}" type="parTrans" cxnId="{C90D00F6-21AC-40BE-8D1B-3D5C0A583522}">
      <dgm:prSet/>
      <dgm:spPr/>
      <dgm:t>
        <a:bodyPr/>
        <a:lstStyle/>
        <a:p>
          <a:endParaRPr lang="en-US"/>
        </a:p>
      </dgm:t>
    </dgm:pt>
    <dgm:pt modelId="{A0045F94-6EB4-4F29-969E-72EC2A0D5843}" type="sibTrans" cxnId="{C90D00F6-21AC-40BE-8D1B-3D5C0A583522}">
      <dgm:prSet/>
      <dgm:spPr/>
      <dgm:t>
        <a:bodyPr/>
        <a:lstStyle/>
        <a:p>
          <a:endParaRPr lang="en-US"/>
        </a:p>
      </dgm:t>
    </dgm:pt>
    <dgm:pt modelId="{2C1488E2-CADC-42B3-AE16-1BBFC3BAEAC6}">
      <dgm:prSet/>
      <dgm:spPr/>
      <dgm:t>
        <a:bodyPr/>
        <a:lstStyle/>
        <a:p>
          <a:r>
            <a:rPr lang="en-US"/>
            <a:t>Scrapped Data</a:t>
          </a:r>
        </a:p>
      </dgm:t>
    </dgm:pt>
    <dgm:pt modelId="{C11B16D2-9890-4177-A8CD-74565EF11DFE}" type="parTrans" cxnId="{565606B3-85C4-40FE-A444-8C8940FCEFEE}">
      <dgm:prSet/>
      <dgm:spPr/>
      <dgm:t>
        <a:bodyPr/>
        <a:lstStyle/>
        <a:p>
          <a:endParaRPr lang="en-US"/>
        </a:p>
      </dgm:t>
    </dgm:pt>
    <dgm:pt modelId="{743CA425-8FEF-4DC4-B09D-DC4F884E3097}" type="sibTrans" cxnId="{565606B3-85C4-40FE-A444-8C8940FCEFEE}">
      <dgm:prSet/>
      <dgm:spPr/>
      <dgm:t>
        <a:bodyPr/>
        <a:lstStyle/>
        <a:p>
          <a:endParaRPr lang="en-US"/>
        </a:p>
      </dgm:t>
    </dgm:pt>
    <dgm:pt modelId="{E18A361D-99AD-46AF-BE47-DAEEB9B8D701}">
      <dgm:prSet/>
      <dgm:spPr/>
      <dgm:t>
        <a:bodyPr/>
        <a:lstStyle/>
        <a:p>
          <a:r>
            <a:rPr lang="en-US" dirty="0"/>
            <a:t>HUDUSER</a:t>
          </a:r>
        </a:p>
      </dgm:t>
    </dgm:pt>
    <dgm:pt modelId="{14F71904-B70C-42D2-8F0D-E6E175EF7D50}" type="parTrans" cxnId="{9C96FA13-E8DB-495A-8474-29F03E55C700}">
      <dgm:prSet/>
      <dgm:spPr/>
      <dgm:t>
        <a:bodyPr/>
        <a:lstStyle/>
        <a:p>
          <a:endParaRPr lang="en-US"/>
        </a:p>
      </dgm:t>
    </dgm:pt>
    <dgm:pt modelId="{34D6086C-EE99-4762-8058-4F5316B0D8DC}" type="sibTrans" cxnId="{9C96FA13-E8DB-495A-8474-29F03E55C700}">
      <dgm:prSet/>
      <dgm:spPr/>
      <dgm:t>
        <a:bodyPr/>
        <a:lstStyle/>
        <a:p>
          <a:endParaRPr lang="en-US"/>
        </a:p>
      </dgm:t>
    </dgm:pt>
    <dgm:pt modelId="{10A775BF-FB81-4FE9-8307-F27E073C2BF0}">
      <dgm:prSet/>
      <dgm:spPr>
        <a:solidFill>
          <a:schemeClr val="accent2"/>
        </a:solidFill>
      </dgm:spPr>
      <dgm:t>
        <a:bodyPr/>
        <a:lstStyle/>
        <a:p>
          <a:r>
            <a:rPr lang="en-US" dirty="0"/>
            <a:t>Rent Inflation Data </a:t>
          </a:r>
        </a:p>
        <a:p>
          <a:r>
            <a:rPr lang="en-US" b="1" dirty="0"/>
            <a:t>- </a:t>
          </a:r>
          <a:r>
            <a:rPr lang="en-US" b="1" i="1" dirty="0"/>
            <a:t>115,209 rows </a:t>
          </a:r>
        </a:p>
        <a:p>
          <a:r>
            <a:rPr lang="en-US" b="1" i="1" dirty="0"/>
            <a:t>- 40 columns</a:t>
          </a:r>
        </a:p>
      </dgm:t>
    </dgm:pt>
    <dgm:pt modelId="{A3E72E16-8931-4F42-BB8B-8D8FA76785D1}" type="parTrans" cxnId="{67386E1A-87CF-408D-8892-6CA0E99D287A}">
      <dgm:prSet/>
      <dgm:spPr/>
      <dgm:t>
        <a:bodyPr/>
        <a:lstStyle/>
        <a:p>
          <a:endParaRPr lang="en-US"/>
        </a:p>
      </dgm:t>
    </dgm:pt>
    <dgm:pt modelId="{DEE411CF-5638-4FBF-A1D1-5429777A6180}" type="sibTrans" cxnId="{67386E1A-87CF-408D-8892-6CA0E99D287A}">
      <dgm:prSet/>
      <dgm:spPr/>
      <dgm:t>
        <a:bodyPr/>
        <a:lstStyle/>
        <a:p>
          <a:endParaRPr lang="en-US"/>
        </a:p>
      </dgm:t>
    </dgm:pt>
    <dgm:pt modelId="{09AA7C80-1FFF-4083-B9E5-9989574F703D}">
      <dgm:prSet/>
      <dgm:spPr/>
      <dgm:t>
        <a:bodyPr/>
        <a:lstStyle/>
        <a:p>
          <a:r>
            <a:rPr lang="en-US" dirty="0"/>
            <a:t>FRED</a:t>
          </a:r>
        </a:p>
      </dgm:t>
    </dgm:pt>
    <dgm:pt modelId="{3D1A6262-E88D-4465-8389-C9B99C6BC462}" type="parTrans" cxnId="{895800CD-A654-4154-9BFE-06726E22EB9F}">
      <dgm:prSet/>
      <dgm:spPr/>
      <dgm:t>
        <a:bodyPr/>
        <a:lstStyle/>
        <a:p>
          <a:endParaRPr lang="en-US"/>
        </a:p>
      </dgm:t>
    </dgm:pt>
    <dgm:pt modelId="{A0D16D1C-CEF8-48AA-B503-54C26D87D0C0}" type="sibTrans" cxnId="{895800CD-A654-4154-9BFE-06726E22EB9F}">
      <dgm:prSet/>
      <dgm:spPr/>
      <dgm:t>
        <a:bodyPr/>
        <a:lstStyle/>
        <a:p>
          <a:endParaRPr lang="en-US"/>
        </a:p>
      </dgm:t>
    </dgm:pt>
    <dgm:pt modelId="{748EBF86-8967-49D3-BFF8-A2DA6A650372}">
      <dgm:prSet/>
      <dgm:spPr>
        <a:solidFill>
          <a:schemeClr val="accent2"/>
        </a:solidFill>
      </dgm:spPr>
      <dgm:t>
        <a:bodyPr/>
        <a:lstStyle/>
        <a:p>
          <a:r>
            <a:rPr lang="en-US" dirty="0"/>
            <a:t>Investment Data for USA </a:t>
          </a:r>
        </a:p>
        <a:p>
          <a:r>
            <a:rPr lang="en-US" b="1" i="1" dirty="0"/>
            <a:t>- 316 rows </a:t>
          </a:r>
        </a:p>
        <a:p>
          <a:r>
            <a:rPr lang="en-US" b="1" i="1" dirty="0"/>
            <a:t>- 2 columns</a:t>
          </a:r>
        </a:p>
      </dgm:t>
    </dgm:pt>
    <dgm:pt modelId="{5C7C4D48-E3D8-4A4D-AE6C-CC596B1DD3A0}" type="parTrans" cxnId="{6FC447A4-24CA-46E8-8260-657126714391}">
      <dgm:prSet/>
      <dgm:spPr/>
      <dgm:t>
        <a:bodyPr/>
        <a:lstStyle/>
        <a:p>
          <a:endParaRPr lang="en-US"/>
        </a:p>
      </dgm:t>
    </dgm:pt>
    <dgm:pt modelId="{A09C75A2-5378-4EC0-8B23-7D86D3220CD0}" type="sibTrans" cxnId="{6FC447A4-24CA-46E8-8260-657126714391}">
      <dgm:prSet/>
      <dgm:spPr/>
      <dgm:t>
        <a:bodyPr/>
        <a:lstStyle/>
        <a:p>
          <a:endParaRPr lang="en-US"/>
        </a:p>
      </dgm:t>
    </dgm:pt>
    <dgm:pt modelId="{21110BA1-D8CF-4651-BF4B-F97B25412FA1}">
      <dgm:prSet/>
      <dgm:spPr/>
      <dgm:t>
        <a:bodyPr/>
        <a:lstStyle/>
        <a:p>
          <a:r>
            <a:rPr lang="en-US"/>
            <a:t>API Data</a:t>
          </a:r>
        </a:p>
      </dgm:t>
    </dgm:pt>
    <dgm:pt modelId="{849E44EE-44A5-47D8-97E3-9A0E08114DF3}" type="parTrans" cxnId="{B3C89FEA-D52B-45E5-8B30-05176D771AC6}">
      <dgm:prSet/>
      <dgm:spPr/>
      <dgm:t>
        <a:bodyPr/>
        <a:lstStyle/>
        <a:p>
          <a:endParaRPr lang="en-US"/>
        </a:p>
      </dgm:t>
    </dgm:pt>
    <dgm:pt modelId="{AC35D29E-A34A-48CF-B975-1E065B2C7633}" type="sibTrans" cxnId="{B3C89FEA-D52B-45E5-8B30-05176D771AC6}">
      <dgm:prSet/>
      <dgm:spPr/>
      <dgm:t>
        <a:bodyPr/>
        <a:lstStyle/>
        <a:p>
          <a:endParaRPr lang="en-US"/>
        </a:p>
      </dgm:t>
    </dgm:pt>
    <dgm:pt modelId="{E2101C0C-4BC3-46BA-BA43-A6BFFF8D8A6D}">
      <dgm:prSet/>
      <dgm:spPr>
        <a:solidFill>
          <a:schemeClr val="accent2"/>
        </a:solidFill>
      </dgm:spPr>
      <dgm:t>
        <a:bodyPr/>
        <a:lstStyle/>
        <a:p>
          <a:r>
            <a:rPr lang="en-US" dirty="0"/>
            <a:t>Total Housing Units</a:t>
          </a:r>
        </a:p>
        <a:p>
          <a:r>
            <a:rPr lang="en-US" b="1" i="1" dirty="0"/>
            <a:t>- </a:t>
          </a:r>
          <a:r>
            <a:rPr lang="en-US" b="0" i="0" dirty="0"/>
            <a:t>48311 </a:t>
          </a:r>
          <a:r>
            <a:rPr lang="en-US" b="1" i="1" dirty="0"/>
            <a:t>rows </a:t>
          </a:r>
        </a:p>
        <a:p>
          <a:r>
            <a:rPr lang="en-US" b="1" i="1" dirty="0"/>
            <a:t>- 5 columns</a:t>
          </a:r>
          <a:endParaRPr lang="en-US" dirty="0"/>
        </a:p>
      </dgm:t>
    </dgm:pt>
    <dgm:pt modelId="{5620ACA5-0E51-458E-911E-767840183F6D}" type="parTrans" cxnId="{72019D1D-163B-4765-BDCC-318BC2675C2C}">
      <dgm:prSet/>
      <dgm:spPr/>
      <dgm:t>
        <a:bodyPr/>
        <a:lstStyle/>
        <a:p>
          <a:endParaRPr lang="en-US"/>
        </a:p>
      </dgm:t>
    </dgm:pt>
    <dgm:pt modelId="{238ECA8F-DC83-41A2-B01C-6123C3531D4F}" type="sibTrans" cxnId="{72019D1D-163B-4765-BDCC-318BC2675C2C}">
      <dgm:prSet/>
      <dgm:spPr/>
      <dgm:t>
        <a:bodyPr/>
        <a:lstStyle/>
        <a:p>
          <a:endParaRPr lang="en-US"/>
        </a:p>
      </dgm:t>
    </dgm:pt>
    <dgm:pt modelId="{B1F24D79-EAFC-4367-9C27-D26698BF860E}">
      <dgm:prSet/>
      <dgm:spPr/>
      <dgm:t>
        <a:bodyPr/>
        <a:lstStyle/>
        <a:p>
          <a:r>
            <a:rPr lang="en-US" dirty="0"/>
            <a:t>Bureau of Economic Analysis API</a:t>
          </a:r>
        </a:p>
      </dgm:t>
    </dgm:pt>
    <dgm:pt modelId="{8B2D1C90-E498-4519-9328-4AC4D022023F}" type="parTrans" cxnId="{1EF5A942-9D78-43DE-B6AC-1654A8D1F006}">
      <dgm:prSet/>
      <dgm:spPr/>
      <dgm:t>
        <a:bodyPr/>
        <a:lstStyle/>
        <a:p>
          <a:endParaRPr lang="en-US"/>
        </a:p>
      </dgm:t>
    </dgm:pt>
    <dgm:pt modelId="{DD51CA53-0EBB-44E1-BF88-E5C9CDE47072}" type="sibTrans" cxnId="{1EF5A942-9D78-43DE-B6AC-1654A8D1F006}">
      <dgm:prSet/>
      <dgm:spPr/>
      <dgm:t>
        <a:bodyPr/>
        <a:lstStyle/>
        <a:p>
          <a:endParaRPr lang="en-US"/>
        </a:p>
      </dgm:t>
    </dgm:pt>
    <dgm:pt modelId="{167217BB-8478-4813-B1AD-68426052276C}">
      <dgm:prSet/>
      <dgm:spPr/>
      <dgm:t>
        <a:bodyPr/>
        <a:lstStyle/>
        <a:p>
          <a:r>
            <a:rPr lang="en-US" dirty="0"/>
            <a:t>Census.gov API</a:t>
          </a:r>
        </a:p>
      </dgm:t>
    </dgm:pt>
    <dgm:pt modelId="{EA3B0152-C7A5-4F2F-B7F5-9E3FF7B8B3D2}" type="sibTrans" cxnId="{1557B9EA-6557-4C26-B1A1-E3640D34E6EB}">
      <dgm:prSet/>
      <dgm:spPr/>
      <dgm:t>
        <a:bodyPr/>
        <a:lstStyle/>
        <a:p>
          <a:endParaRPr lang="en-US"/>
        </a:p>
      </dgm:t>
    </dgm:pt>
    <dgm:pt modelId="{2A1DB5B4-7ADF-4FA5-BA43-B8A74512EE4D}" type="parTrans" cxnId="{1557B9EA-6557-4C26-B1A1-E3640D34E6EB}">
      <dgm:prSet/>
      <dgm:spPr/>
      <dgm:t>
        <a:bodyPr/>
        <a:lstStyle/>
        <a:p>
          <a:endParaRPr lang="en-US"/>
        </a:p>
      </dgm:t>
    </dgm:pt>
    <dgm:pt modelId="{EE2B8E74-6DD1-4E11-A6F0-7E0FD2758E6E}">
      <dgm:prSet/>
      <dgm:spPr>
        <a:solidFill>
          <a:schemeClr val="accent2"/>
        </a:solidFill>
      </dgm:spPr>
      <dgm:t>
        <a:bodyPr/>
        <a:lstStyle/>
        <a:p>
          <a:r>
            <a:rPr lang="en-US" dirty="0"/>
            <a:t>Investment Data per County</a:t>
          </a:r>
        </a:p>
        <a:p>
          <a:r>
            <a:rPr lang="en-US" b="1" i="1" dirty="0"/>
            <a:t>- 75048 rows </a:t>
          </a:r>
        </a:p>
        <a:p>
          <a:r>
            <a:rPr lang="en-US" b="1" i="1" dirty="0"/>
            <a:t>- 6 columns</a:t>
          </a:r>
        </a:p>
      </dgm:t>
    </dgm:pt>
    <dgm:pt modelId="{FF1C3ECD-E77F-4FDE-8332-826C34135938}" type="parTrans" cxnId="{F8657D7F-FB82-47CB-B056-D2AE83E9D478}">
      <dgm:prSet/>
      <dgm:spPr/>
      <dgm:t>
        <a:bodyPr/>
        <a:lstStyle/>
        <a:p>
          <a:endParaRPr lang="en-US"/>
        </a:p>
      </dgm:t>
    </dgm:pt>
    <dgm:pt modelId="{67C8903D-A0B0-434F-B790-AE001B7E7F68}" type="sibTrans" cxnId="{F8657D7F-FB82-47CB-B056-D2AE83E9D478}">
      <dgm:prSet/>
      <dgm:spPr/>
      <dgm:t>
        <a:bodyPr/>
        <a:lstStyle/>
        <a:p>
          <a:endParaRPr lang="en-US"/>
        </a:p>
      </dgm:t>
    </dgm:pt>
    <dgm:pt modelId="{FFAEE05F-A3B2-4946-921E-3ACA479BD5F7}">
      <dgm:prSet/>
      <dgm:spPr>
        <a:solidFill>
          <a:schemeClr val="accent2"/>
        </a:solidFill>
      </dgm:spPr>
      <dgm:t>
        <a:bodyPr/>
        <a:lstStyle/>
        <a:p>
          <a:r>
            <a:rPr lang="en-US" b="1" i="0" dirty="0"/>
            <a:t>Personal Income Data per County </a:t>
          </a:r>
          <a:r>
            <a:rPr lang="en-US" b="1" i="1" dirty="0"/>
            <a:t>-  56682 rows – 6 column</a:t>
          </a:r>
        </a:p>
      </dgm:t>
    </dgm:pt>
    <dgm:pt modelId="{680E930A-534C-4EC6-92F0-8EA2FD060821}" type="parTrans" cxnId="{99DE07CE-A608-4B5C-A320-6510006418D9}">
      <dgm:prSet/>
      <dgm:spPr/>
      <dgm:t>
        <a:bodyPr/>
        <a:lstStyle/>
        <a:p>
          <a:endParaRPr lang="en-US"/>
        </a:p>
      </dgm:t>
    </dgm:pt>
    <dgm:pt modelId="{6ADF40F8-167C-4AFA-B336-1D0EBC8E5A22}" type="sibTrans" cxnId="{99DE07CE-A608-4B5C-A320-6510006418D9}">
      <dgm:prSet/>
      <dgm:spPr/>
      <dgm:t>
        <a:bodyPr/>
        <a:lstStyle/>
        <a:p>
          <a:endParaRPr lang="en-US"/>
        </a:p>
      </dgm:t>
    </dgm:pt>
    <dgm:pt modelId="{A368575E-878A-4A17-9FB9-06358D0BDDFC}" type="pres">
      <dgm:prSet presAssocID="{ED5346B1-FB31-45DC-BEED-2489B9E4D61E}" presName="hierChild1" presStyleCnt="0">
        <dgm:presLayoutVars>
          <dgm:orgChart val="1"/>
          <dgm:chPref val="1"/>
          <dgm:dir/>
          <dgm:animOne val="branch"/>
          <dgm:animLvl val="lvl"/>
          <dgm:resizeHandles/>
        </dgm:presLayoutVars>
      </dgm:prSet>
      <dgm:spPr/>
    </dgm:pt>
    <dgm:pt modelId="{BC743BC3-652F-403A-B3DD-10B5A711C55A}" type="pres">
      <dgm:prSet presAssocID="{BB3626A6-72B5-4C05-BD0E-F635231E4A7C}" presName="hierRoot1" presStyleCnt="0">
        <dgm:presLayoutVars>
          <dgm:hierBranch val="init"/>
        </dgm:presLayoutVars>
      </dgm:prSet>
      <dgm:spPr/>
    </dgm:pt>
    <dgm:pt modelId="{76B5F1F8-01E5-4057-90CB-69C348DBFDF9}" type="pres">
      <dgm:prSet presAssocID="{BB3626A6-72B5-4C05-BD0E-F635231E4A7C}" presName="rootComposite1" presStyleCnt="0"/>
      <dgm:spPr/>
    </dgm:pt>
    <dgm:pt modelId="{305AE4D4-FE81-4223-833C-050132E5FC8D}" type="pres">
      <dgm:prSet presAssocID="{BB3626A6-72B5-4C05-BD0E-F635231E4A7C}" presName="rootText1" presStyleLbl="node0" presStyleIdx="0" presStyleCnt="1">
        <dgm:presLayoutVars>
          <dgm:chPref val="3"/>
        </dgm:presLayoutVars>
      </dgm:prSet>
      <dgm:spPr/>
    </dgm:pt>
    <dgm:pt modelId="{408746BE-A6B9-40DC-8D61-62BD2AB703E2}" type="pres">
      <dgm:prSet presAssocID="{BB3626A6-72B5-4C05-BD0E-F635231E4A7C}" presName="rootConnector1" presStyleLbl="node1" presStyleIdx="0" presStyleCnt="0"/>
      <dgm:spPr/>
    </dgm:pt>
    <dgm:pt modelId="{A2122E95-C7B0-40BE-978D-70EC32B05E59}" type="pres">
      <dgm:prSet presAssocID="{BB3626A6-72B5-4C05-BD0E-F635231E4A7C}" presName="hierChild2" presStyleCnt="0"/>
      <dgm:spPr/>
    </dgm:pt>
    <dgm:pt modelId="{C087CD7B-211D-43B6-826B-3DA3C8E231F6}" type="pres">
      <dgm:prSet presAssocID="{C11B16D2-9890-4177-A8CD-74565EF11DFE}" presName="Name37" presStyleLbl="parChTrans1D2" presStyleIdx="0" presStyleCnt="3"/>
      <dgm:spPr/>
    </dgm:pt>
    <dgm:pt modelId="{4560A606-680D-4454-BB22-3C93720988FB}" type="pres">
      <dgm:prSet presAssocID="{2C1488E2-CADC-42B3-AE16-1BBFC3BAEAC6}" presName="hierRoot2" presStyleCnt="0">
        <dgm:presLayoutVars>
          <dgm:hierBranch val="init"/>
        </dgm:presLayoutVars>
      </dgm:prSet>
      <dgm:spPr/>
    </dgm:pt>
    <dgm:pt modelId="{DE3F75DE-8FC9-422A-9282-9C1418BE99BC}" type="pres">
      <dgm:prSet presAssocID="{2C1488E2-CADC-42B3-AE16-1BBFC3BAEAC6}" presName="rootComposite" presStyleCnt="0"/>
      <dgm:spPr/>
    </dgm:pt>
    <dgm:pt modelId="{435C5C73-FB77-46BD-A2AB-8C56A39CCA24}" type="pres">
      <dgm:prSet presAssocID="{2C1488E2-CADC-42B3-AE16-1BBFC3BAEAC6}" presName="rootText" presStyleLbl="node2" presStyleIdx="0" presStyleCnt="3">
        <dgm:presLayoutVars>
          <dgm:chPref val="3"/>
        </dgm:presLayoutVars>
      </dgm:prSet>
      <dgm:spPr/>
    </dgm:pt>
    <dgm:pt modelId="{3D7890F1-29C3-4513-80D9-6C3DDE6548E3}" type="pres">
      <dgm:prSet presAssocID="{2C1488E2-CADC-42B3-AE16-1BBFC3BAEAC6}" presName="rootConnector" presStyleLbl="node2" presStyleIdx="0" presStyleCnt="3"/>
      <dgm:spPr/>
    </dgm:pt>
    <dgm:pt modelId="{E6F5BD8F-8416-4BEF-A54D-F26E72B8F915}" type="pres">
      <dgm:prSet presAssocID="{2C1488E2-CADC-42B3-AE16-1BBFC3BAEAC6}" presName="hierChild4" presStyleCnt="0"/>
      <dgm:spPr/>
    </dgm:pt>
    <dgm:pt modelId="{2844B1A1-A688-4D7D-8F68-9CF90D262F6D}" type="pres">
      <dgm:prSet presAssocID="{14F71904-B70C-42D2-8F0D-E6E175EF7D50}" presName="Name37" presStyleLbl="parChTrans1D3" presStyleIdx="0" presStyleCnt="4"/>
      <dgm:spPr/>
    </dgm:pt>
    <dgm:pt modelId="{3AF0123D-3913-4274-83CE-C0684CBE2384}" type="pres">
      <dgm:prSet presAssocID="{E18A361D-99AD-46AF-BE47-DAEEB9B8D701}" presName="hierRoot2" presStyleCnt="0">
        <dgm:presLayoutVars>
          <dgm:hierBranch val="init"/>
        </dgm:presLayoutVars>
      </dgm:prSet>
      <dgm:spPr/>
    </dgm:pt>
    <dgm:pt modelId="{B854D007-0797-44EB-8E65-BE34456450B8}" type="pres">
      <dgm:prSet presAssocID="{E18A361D-99AD-46AF-BE47-DAEEB9B8D701}" presName="rootComposite" presStyleCnt="0"/>
      <dgm:spPr/>
    </dgm:pt>
    <dgm:pt modelId="{09F79986-6E17-41FC-8C0A-D38CBF380E26}" type="pres">
      <dgm:prSet presAssocID="{E18A361D-99AD-46AF-BE47-DAEEB9B8D701}" presName="rootText" presStyleLbl="node3" presStyleIdx="0" presStyleCnt="4">
        <dgm:presLayoutVars>
          <dgm:chPref val="3"/>
        </dgm:presLayoutVars>
      </dgm:prSet>
      <dgm:spPr/>
    </dgm:pt>
    <dgm:pt modelId="{C4A158F3-954C-4941-9DC2-B85FA9E077F7}" type="pres">
      <dgm:prSet presAssocID="{E18A361D-99AD-46AF-BE47-DAEEB9B8D701}" presName="rootConnector" presStyleLbl="node3" presStyleIdx="0" presStyleCnt="4"/>
      <dgm:spPr/>
    </dgm:pt>
    <dgm:pt modelId="{5BCDACAE-C294-482E-9532-A966850602D8}" type="pres">
      <dgm:prSet presAssocID="{E18A361D-99AD-46AF-BE47-DAEEB9B8D701}" presName="hierChild4" presStyleCnt="0"/>
      <dgm:spPr/>
    </dgm:pt>
    <dgm:pt modelId="{ADFE5A30-A23E-4ED4-941C-D8A09C3381FF}" type="pres">
      <dgm:prSet presAssocID="{A3E72E16-8931-4F42-BB8B-8D8FA76785D1}" presName="Name37" presStyleLbl="parChTrans1D4" presStyleIdx="0" presStyleCnt="4"/>
      <dgm:spPr/>
    </dgm:pt>
    <dgm:pt modelId="{C1366F9D-C6D9-48E6-80A5-A768A4D9D0F7}" type="pres">
      <dgm:prSet presAssocID="{10A775BF-FB81-4FE9-8307-F27E073C2BF0}" presName="hierRoot2" presStyleCnt="0">
        <dgm:presLayoutVars>
          <dgm:hierBranch val="init"/>
        </dgm:presLayoutVars>
      </dgm:prSet>
      <dgm:spPr/>
    </dgm:pt>
    <dgm:pt modelId="{2BE9D49D-9CC2-47BE-8CE1-8123F98AFEE5}" type="pres">
      <dgm:prSet presAssocID="{10A775BF-FB81-4FE9-8307-F27E073C2BF0}" presName="rootComposite" presStyleCnt="0"/>
      <dgm:spPr/>
    </dgm:pt>
    <dgm:pt modelId="{243E1AE7-4C70-444D-B073-52369E599DF3}" type="pres">
      <dgm:prSet presAssocID="{10A775BF-FB81-4FE9-8307-F27E073C2BF0}" presName="rootText" presStyleLbl="node4" presStyleIdx="0" presStyleCnt="4">
        <dgm:presLayoutVars>
          <dgm:chPref val="3"/>
        </dgm:presLayoutVars>
      </dgm:prSet>
      <dgm:spPr/>
    </dgm:pt>
    <dgm:pt modelId="{AFB8E566-AA9A-4E59-A092-99249ABB0493}" type="pres">
      <dgm:prSet presAssocID="{10A775BF-FB81-4FE9-8307-F27E073C2BF0}" presName="rootConnector" presStyleLbl="node4" presStyleIdx="0" presStyleCnt="4"/>
      <dgm:spPr/>
    </dgm:pt>
    <dgm:pt modelId="{E89D4DC6-7D9D-48F1-BA67-41968B3747A8}" type="pres">
      <dgm:prSet presAssocID="{10A775BF-FB81-4FE9-8307-F27E073C2BF0}" presName="hierChild4" presStyleCnt="0"/>
      <dgm:spPr/>
    </dgm:pt>
    <dgm:pt modelId="{A8635D59-C066-4988-83B2-398E12A83B9B}" type="pres">
      <dgm:prSet presAssocID="{10A775BF-FB81-4FE9-8307-F27E073C2BF0}" presName="hierChild5" presStyleCnt="0"/>
      <dgm:spPr/>
    </dgm:pt>
    <dgm:pt modelId="{795CA5DE-1F53-4165-ADAC-755CFA8840A6}" type="pres">
      <dgm:prSet presAssocID="{E18A361D-99AD-46AF-BE47-DAEEB9B8D701}" presName="hierChild5" presStyleCnt="0"/>
      <dgm:spPr/>
    </dgm:pt>
    <dgm:pt modelId="{BEC018FB-0456-4242-B043-C01C5FB89F32}" type="pres">
      <dgm:prSet presAssocID="{3D1A6262-E88D-4465-8389-C9B99C6BC462}" presName="Name37" presStyleLbl="parChTrans1D3" presStyleIdx="1" presStyleCnt="4"/>
      <dgm:spPr/>
    </dgm:pt>
    <dgm:pt modelId="{F33AB80E-88C8-496C-A3DC-FE2E2B34A700}" type="pres">
      <dgm:prSet presAssocID="{09AA7C80-1FFF-4083-B9E5-9989574F703D}" presName="hierRoot2" presStyleCnt="0">
        <dgm:presLayoutVars>
          <dgm:hierBranch val="init"/>
        </dgm:presLayoutVars>
      </dgm:prSet>
      <dgm:spPr/>
    </dgm:pt>
    <dgm:pt modelId="{B1E06B2C-7B2C-4B04-9728-CB17E6DD907D}" type="pres">
      <dgm:prSet presAssocID="{09AA7C80-1FFF-4083-B9E5-9989574F703D}" presName="rootComposite" presStyleCnt="0"/>
      <dgm:spPr/>
    </dgm:pt>
    <dgm:pt modelId="{B6A82E9A-F2E0-4A35-B59D-B91D038778A1}" type="pres">
      <dgm:prSet presAssocID="{09AA7C80-1FFF-4083-B9E5-9989574F703D}" presName="rootText" presStyleLbl="node3" presStyleIdx="1" presStyleCnt="4">
        <dgm:presLayoutVars>
          <dgm:chPref val="3"/>
        </dgm:presLayoutVars>
      </dgm:prSet>
      <dgm:spPr/>
    </dgm:pt>
    <dgm:pt modelId="{4C99D460-E431-4CDD-96B6-B4C2FC517CAE}" type="pres">
      <dgm:prSet presAssocID="{09AA7C80-1FFF-4083-B9E5-9989574F703D}" presName="rootConnector" presStyleLbl="node3" presStyleIdx="1" presStyleCnt="4"/>
      <dgm:spPr/>
    </dgm:pt>
    <dgm:pt modelId="{287552AE-DFE3-4605-A532-E75118CB9ABF}" type="pres">
      <dgm:prSet presAssocID="{09AA7C80-1FFF-4083-B9E5-9989574F703D}" presName="hierChild4" presStyleCnt="0"/>
      <dgm:spPr/>
    </dgm:pt>
    <dgm:pt modelId="{E64BF273-62F2-4F0B-812F-9DB8D14A1E0B}" type="pres">
      <dgm:prSet presAssocID="{5C7C4D48-E3D8-4A4D-AE6C-CC596B1DD3A0}" presName="Name37" presStyleLbl="parChTrans1D4" presStyleIdx="1" presStyleCnt="4"/>
      <dgm:spPr/>
    </dgm:pt>
    <dgm:pt modelId="{9B2C7B8E-B422-4E73-BD9A-1651B82B2386}" type="pres">
      <dgm:prSet presAssocID="{748EBF86-8967-49D3-BFF8-A2DA6A650372}" presName="hierRoot2" presStyleCnt="0">
        <dgm:presLayoutVars>
          <dgm:hierBranch val="init"/>
        </dgm:presLayoutVars>
      </dgm:prSet>
      <dgm:spPr/>
    </dgm:pt>
    <dgm:pt modelId="{BCE6FF21-625D-4022-8BB1-EC12D725DC1E}" type="pres">
      <dgm:prSet presAssocID="{748EBF86-8967-49D3-BFF8-A2DA6A650372}" presName="rootComposite" presStyleCnt="0"/>
      <dgm:spPr/>
    </dgm:pt>
    <dgm:pt modelId="{418DC575-0959-4C1C-8CBE-87AEE66B90A8}" type="pres">
      <dgm:prSet presAssocID="{748EBF86-8967-49D3-BFF8-A2DA6A650372}" presName="rootText" presStyleLbl="node4" presStyleIdx="1" presStyleCnt="4">
        <dgm:presLayoutVars>
          <dgm:chPref val="3"/>
        </dgm:presLayoutVars>
      </dgm:prSet>
      <dgm:spPr/>
    </dgm:pt>
    <dgm:pt modelId="{FC98E737-A549-4F66-918E-F885C880348A}" type="pres">
      <dgm:prSet presAssocID="{748EBF86-8967-49D3-BFF8-A2DA6A650372}" presName="rootConnector" presStyleLbl="node4" presStyleIdx="1" presStyleCnt="4"/>
      <dgm:spPr/>
    </dgm:pt>
    <dgm:pt modelId="{322EC16B-ACA8-42CB-87B6-2C7EC84137EC}" type="pres">
      <dgm:prSet presAssocID="{748EBF86-8967-49D3-BFF8-A2DA6A650372}" presName="hierChild4" presStyleCnt="0"/>
      <dgm:spPr/>
    </dgm:pt>
    <dgm:pt modelId="{BD42FD67-65F5-4FA2-A747-AC6385317A3C}" type="pres">
      <dgm:prSet presAssocID="{748EBF86-8967-49D3-BFF8-A2DA6A650372}" presName="hierChild5" presStyleCnt="0"/>
      <dgm:spPr/>
    </dgm:pt>
    <dgm:pt modelId="{50FC9AA1-06DA-4995-A53C-5742E0B21C87}" type="pres">
      <dgm:prSet presAssocID="{09AA7C80-1FFF-4083-B9E5-9989574F703D}" presName="hierChild5" presStyleCnt="0"/>
      <dgm:spPr/>
    </dgm:pt>
    <dgm:pt modelId="{1050D6A5-E18C-49C2-A5D6-112235FDB764}" type="pres">
      <dgm:prSet presAssocID="{2C1488E2-CADC-42B3-AE16-1BBFC3BAEAC6}" presName="hierChild5" presStyleCnt="0"/>
      <dgm:spPr/>
    </dgm:pt>
    <dgm:pt modelId="{089F08E4-43E3-4D23-A553-F6671F57FC23}" type="pres">
      <dgm:prSet presAssocID="{849E44EE-44A5-47D8-97E3-9A0E08114DF3}" presName="Name37" presStyleLbl="parChTrans1D2" presStyleIdx="1" presStyleCnt="3"/>
      <dgm:spPr/>
    </dgm:pt>
    <dgm:pt modelId="{F85D79AA-8BA6-4531-81CD-3DCDDE73F6D6}" type="pres">
      <dgm:prSet presAssocID="{21110BA1-D8CF-4651-BF4B-F97B25412FA1}" presName="hierRoot2" presStyleCnt="0">
        <dgm:presLayoutVars>
          <dgm:hierBranch val="init"/>
        </dgm:presLayoutVars>
      </dgm:prSet>
      <dgm:spPr/>
    </dgm:pt>
    <dgm:pt modelId="{CB965178-8E44-4310-9DA3-BDA67B929AAF}" type="pres">
      <dgm:prSet presAssocID="{21110BA1-D8CF-4651-BF4B-F97B25412FA1}" presName="rootComposite" presStyleCnt="0"/>
      <dgm:spPr/>
    </dgm:pt>
    <dgm:pt modelId="{9348FF4D-7B72-4725-B724-E4795A7F6F3B}" type="pres">
      <dgm:prSet presAssocID="{21110BA1-D8CF-4651-BF4B-F97B25412FA1}" presName="rootText" presStyleLbl="node2" presStyleIdx="1" presStyleCnt="3">
        <dgm:presLayoutVars>
          <dgm:chPref val="3"/>
        </dgm:presLayoutVars>
      </dgm:prSet>
      <dgm:spPr/>
    </dgm:pt>
    <dgm:pt modelId="{27562FD2-1209-487A-B1B5-7B751431D816}" type="pres">
      <dgm:prSet presAssocID="{21110BA1-D8CF-4651-BF4B-F97B25412FA1}" presName="rootConnector" presStyleLbl="node2" presStyleIdx="1" presStyleCnt="3"/>
      <dgm:spPr/>
    </dgm:pt>
    <dgm:pt modelId="{74D0805A-1005-402F-A2EF-6A99482B50CB}" type="pres">
      <dgm:prSet presAssocID="{21110BA1-D8CF-4651-BF4B-F97B25412FA1}" presName="hierChild4" presStyleCnt="0"/>
      <dgm:spPr/>
    </dgm:pt>
    <dgm:pt modelId="{DD0F232F-2C28-4FBE-957B-A2F37C1525CE}" type="pres">
      <dgm:prSet presAssocID="{8B2D1C90-E498-4519-9328-4AC4D022023F}" presName="Name37" presStyleLbl="parChTrans1D3" presStyleIdx="2" presStyleCnt="4"/>
      <dgm:spPr/>
    </dgm:pt>
    <dgm:pt modelId="{5C74F485-1BA1-4917-956D-52845A8E2125}" type="pres">
      <dgm:prSet presAssocID="{B1F24D79-EAFC-4367-9C27-D26698BF860E}" presName="hierRoot2" presStyleCnt="0">
        <dgm:presLayoutVars>
          <dgm:hierBranch val="init"/>
        </dgm:presLayoutVars>
      </dgm:prSet>
      <dgm:spPr/>
    </dgm:pt>
    <dgm:pt modelId="{205C0E19-B7E4-4B13-AF10-B25B3139F9D5}" type="pres">
      <dgm:prSet presAssocID="{B1F24D79-EAFC-4367-9C27-D26698BF860E}" presName="rootComposite" presStyleCnt="0"/>
      <dgm:spPr/>
    </dgm:pt>
    <dgm:pt modelId="{96175828-F05C-4C9A-9A20-8B0AA1D87511}" type="pres">
      <dgm:prSet presAssocID="{B1F24D79-EAFC-4367-9C27-D26698BF860E}" presName="rootText" presStyleLbl="node3" presStyleIdx="2" presStyleCnt="4">
        <dgm:presLayoutVars>
          <dgm:chPref val="3"/>
        </dgm:presLayoutVars>
      </dgm:prSet>
      <dgm:spPr/>
    </dgm:pt>
    <dgm:pt modelId="{85C9AE2A-5D19-4414-867F-A2B62BA3EF19}" type="pres">
      <dgm:prSet presAssocID="{B1F24D79-EAFC-4367-9C27-D26698BF860E}" presName="rootConnector" presStyleLbl="node3" presStyleIdx="2" presStyleCnt="4"/>
      <dgm:spPr/>
    </dgm:pt>
    <dgm:pt modelId="{7B8A42D8-3CE3-4D36-95D5-A98F15E5F503}" type="pres">
      <dgm:prSet presAssocID="{B1F24D79-EAFC-4367-9C27-D26698BF860E}" presName="hierChild4" presStyleCnt="0"/>
      <dgm:spPr/>
    </dgm:pt>
    <dgm:pt modelId="{2A93D2A8-0B62-4D07-93CD-2872A1A735D0}" type="pres">
      <dgm:prSet presAssocID="{FF1C3ECD-E77F-4FDE-8332-826C34135938}" presName="Name37" presStyleLbl="parChTrans1D4" presStyleIdx="2" presStyleCnt="4"/>
      <dgm:spPr/>
    </dgm:pt>
    <dgm:pt modelId="{68A8ED51-B0B9-4B7A-B680-C8FC2D4EB317}" type="pres">
      <dgm:prSet presAssocID="{EE2B8E74-6DD1-4E11-A6F0-7E0FD2758E6E}" presName="hierRoot2" presStyleCnt="0">
        <dgm:presLayoutVars>
          <dgm:hierBranch val="init"/>
        </dgm:presLayoutVars>
      </dgm:prSet>
      <dgm:spPr/>
    </dgm:pt>
    <dgm:pt modelId="{5292CF8D-2445-4F35-A263-8869B3D17108}" type="pres">
      <dgm:prSet presAssocID="{EE2B8E74-6DD1-4E11-A6F0-7E0FD2758E6E}" presName="rootComposite" presStyleCnt="0"/>
      <dgm:spPr/>
    </dgm:pt>
    <dgm:pt modelId="{B1287D45-6FF8-41FF-A4A6-A9EA5C1AAB77}" type="pres">
      <dgm:prSet presAssocID="{EE2B8E74-6DD1-4E11-A6F0-7E0FD2758E6E}" presName="rootText" presStyleLbl="node4" presStyleIdx="2" presStyleCnt="4">
        <dgm:presLayoutVars>
          <dgm:chPref val="3"/>
        </dgm:presLayoutVars>
      </dgm:prSet>
      <dgm:spPr/>
    </dgm:pt>
    <dgm:pt modelId="{7F69176B-AEA9-4624-9C3A-301703D69185}" type="pres">
      <dgm:prSet presAssocID="{EE2B8E74-6DD1-4E11-A6F0-7E0FD2758E6E}" presName="rootConnector" presStyleLbl="node4" presStyleIdx="2" presStyleCnt="4"/>
      <dgm:spPr/>
    </dgm:pt>
    <dgm:pt modelId="{AEC7A2D2-6D87-4F15-8704-3D0A63EEE7FE}" type="pres">
      <dgm:prSet presAssocID="{EE2B8E74-6DD1-4E11-A6F0-7E0FD2758E6E}" presName="hierChild4" presStyleCnt="0"/>
      <dgm:spPr/>
    </dgm:pt>
    <dgm:pt modelId="{B5700551-D751-4A5E-8B20-69A45A6A109B}" type="pres">
      <dgm:prSet presAssocID="{EE2B8E74-6DD1-4E11-A6F0-7E0FD2758E6E}" presName="hierChild5" presStyleCnt="0"/>
      <dgm:spPr/>
    </dgm:pt>
    <dgm:pt modelId="{53773FB6-7EF9-4266-9FFC-98530EA6C636}" type="pres">
      <dgm:prSet presAssocID="{680E930A-534C-4EC6-92F0-8EA2FD060821}" presName="Name37" presStyleLbl="parChTrans1D4" presStyleIdx="3" presStyleCnt="4"/>
      <dgm:spPr/>
    </dgm:pt>
    <dgm:pt modelId="{06FD3C6C-2E20-4AEA-BCD5-E4E2D98A766E}" type="pres">
      <dgm:prSet presAssocID="{FFAEE05F-A3B2-4946-921E-3ACA479BD5F7}" presName="hierRoot2" presStyleCnt="0">
        <dgm:presLayoutVars>
          <dgm:hierBranch val="init"/>
        </dgm:presLayoutVars>
      </dgm:prSet>
      <dgm:spPr/>
    </dgm:pt>
    <dgm:pt modelId="{5A72C5FD-EF7E-4684-B8C6-C4D92C1984AF}" type="pres">
      <dgm:prSet presAssocID="{FFAEE05F-A3B2-4946-921E-3ACA479BD5F7}" presName="rootComposite" presStyleCnt="0"/>
      <dgm:spPr/>
    </dgm:pt>
    <dgm:pt modelId="{8E4A5BDF-D463-4990-942E-6FA01D277F0F}" type="pres">
      <dgm:prSet presAssocID="{FFAEE05F-A3B2-4946-921E-3ACA479BD5F7}" presName="rootText" presStyleLbl="node4" presStyleIdx="3" presStyleCnt="4">
        <dgm:presLayoutVars>
          <dgm:chPref val="3"/>
        </dgm:presLayoutVars>
      </dgm:prSet>
      <dgm:spPr/>
    </dgm:pt>
    <dgm:pt modelId="{59BF214F-7A9B-41BA-BEEA-571AA9E7B770}" type="pres">
      <dgm:prSet presAssocID="{FFAEE05F-A3B2-4946-921E-3ACA479BD5F7}" presName="rootConnector" presStyleLbl="node4" presStyleIdx="3" presStyleCnt="4"/>
      <dgm:spPr/>
    </dgm:pt>
    <dgm:pt modelId="{3FBF966C-C6B4-4A09-A1B5-9437C11F3EAC}" type="pres">
      <dgm:prSet presAssocID="{FFAEE05F-A3B2-4946-921E-3ACA479BD5F7}" presName="hierChild4" presStyleCnt="0"/>
      <dgm:spPr/>
    </dgm:pt>
    <dgm:pt modelId="{8E14B6E0-58CC-420F-8BD5-44B838FA63D9}" type="pres">
      <dgm:prSet presAssocID="{FFAEE05F-A3B2-4946-921E-3ACA479BD5F7}" presName="hierChild5" presStyleCnt="0"/>
      <dgm:spPr/>
    </dgm:pt>
    <dgm:pt modelId="{2C70804C-A83E-4AAA-AE47-AC824BBF3F9F}" type="pres">
      <dgm:prSet presAssocID="{B1F24D79-EAFC-4367-9C27-D26698BF860E}" presName="hierChild5" presStyleCnt="0"/>
      <dgm:spPr/>
    </dgm:pt>
    <dgm:pt modelId="{93510AE5-318A-4F4D-B493-3109F44CAB73}" type="pres">
      <dgm:prSet presAssocID="{21110BA1-D8CF-4651-BF4B-F97B25412FA1}" presName="hierChild5" presStyleCnt="0"/>
      <dgm:spPr/>
    </dgm:pt>
    <dgm:pt modelId="{66CA087A-5D03-48AC-A9E6-9A0CB6D3D496}" type="pres">
      <dgm:prSet presAssocID="{2A1DB5B4-7ADF-4FA5-BA43-B8A74512EE4D}" presName="Name37" presStyleLbl="parChTrans1D2" presStyleIdx="2" presStyleCnt="3"/>
      <dgm:spPr/>
    </dgm:pt>
    <dgm:pt modelId="{11E46704-776C-4591-A17E-8B88443F64FA}" type="pres">
      <dgm:prSet presAssocID="{167217BB-8478-4813-B1AD-68426052276C}" presName="hierRoot2" presStyleCnt="0">
        <dgm:presLayoutVars>
          <dgm:hierBranch val="init"/>
        </dgm:presLayoutVars>
      </dgm:prSet>
      <dgm:spPr/>
    </dgm:pt>
    <dgm:pt modelId="{BCC0878A-213A-42A7-9FC4-5149A81EBA53}" type="pres">
      <dgm:prSet presAssocID="{167217BB-8478-4813-B1AD-68426052276C}" presName="rootComposite" presStyleCnt="0"/>
      <dgm:spPr/>
    </dgm:pt>
    <dgm:pt modelId="{9E09FB55-CD6F-4604-9B31-0B7B45CFDB00}" type="pres">
      <dgm:prSet presAssocID="{167217BB-8478-4813-B1AD-68426052276C}" presName="rootText" presStyleLbl="node2" presStyleIdx="2" presStyleCnt="3">
        <dgm:presLayoutVars>
          <dgm:chPref val="3"/>
        </dgm:presLayoutVars>
      </dgm:prSet>
      <dgm:spPr/>
    </dgm:pt>
    <dgm:pt modelId="{1FA245CC-5936-4C0E-A175-5A5CA2C74FD2}" type="pres">
      <dgm:prSet presAssocID="{167217BB-8478-4813-B1AD-68426052276C}" presName="rootConnector" presStyleLbl="node2" presStyleIdx="2" presStyleCnt="3"/>
      <dgm:spPr/>
    </dgm:pt>
    <dgm:pt modelId="{1E2E761E-8E1C-4593-B211-11D2E609BE13}" type="pres">
      <dgm:prSet presAssocID="{167217BB-8478-4813-B1AD-68426052276C}" presName="hierChild4" presStyleCnt="0"/>
      <dgm:spPr/>
    </dgm:pt>
    <dgm:pt modelId="{378D118F-492E-497A-BC64-4C1494A935A0}" type="pres">
      <dgm:prSet presAssocID="{5620ACA5-0E51-458E-911E-767840183F6D}" presName="Name37" presStyleLbl="parChTrans1D3" presStyleIdx="3" presStyleCnt="4"/>
      <dgm:spPr/>
    </dgm:pt>
    <dgm:pt modelId="{844C87D7-B5EE-47B4-8D2D-E36C2255039A}" type="pres">
      <dgm:prSet presAssocID="{E2101C0C-4BC3-46BA-BA43-A6BFFF8D8A6D}" presName="hierRoot2" presStyleCnt="0">
        <dgm:presLayoutVars>
          <dgm:hierBranch val="init"/>
        </dgm:presLayoutVars>
      </dgm:prSet>
      <dgm:spPr/>
    </dgm:pt>
    <dgm:pt modelId="{2220A92C-EE13-4BB6-B903-CE60FEF67D29}" type="pres">
      <dgm:prSet presAssocID="{E2101C0C-4BC3-46BA-BA43-A6BFFF8D8A6D}" presName="rootComposite" presStyleCnt="0"/>
      <dgm:spPr/>
    </dgm:pt>
    <dgm:pt modelId="{1CA9EF1D-1D05-44D8-9725-9B77682407D5}" type="pres">
      <dgm:prSet presAssocID="{E2101C0C-4BC3-46BA-BA43-A6BFFF8D8A6D}" presName="rootText" presStyleLbl="node3" presStyleIdx="3" presStyleCnt="4">
        <dgm:presLayoutVars>
          <dgm:chPref val="3"/>
        </dgm:presLayoutVars>
      </dgm:prSet>
      <dgm:spPr/>
    </dgm:pt>
    <dgm:pt modelId="{E891AF91-81C6-489C-A4AA-9CC495B8EE6D}" type="pres">
      <dgm:prSet presAssocID="{E2101C0C-4BC3-46BA-BA43-A6BFFF8D8A6D}" presName="rootConnector" presStyleLbl="node3" presStyleIdx="3" presStyleCnt="4"/>
      <dgm:spPr/>
    </dgm:pt>
    <dgm:pt modelId="{31D1F214-138D-4496-9257-0496C5656056}" type="pres">
      <dgm:prSet presAssocID="{E2101C0C-4BC3-46BA-BA43-A6BFFF8D8A6D}" presName="hierChild4" presStyleCnt="0"/>
      <dgm:spPr/>
    </dgm:pt>
    <dgm:pt modelId="{3814B009-FCC1-4F03-BC0A-67FD3D0E3ED5}" type="pres">
      <dgm:prSet presAssocID="{E2101C0C-4BC3-46BA-BA43-A6BFFF8D8A6D}" presName="hierChild5" presStyleCnt="0"/>
      <dgm:spPr/>
    </dgm:pt>
    <dgm:pt modelId="{177CB9CD-D344-4ECF-B2E0-0689382B61C2}" type="pres">
      <dgm:prSet presAssocID="{167217BB-8478-4813-B1AD-68426052276C}" presName="hierChild5" presStyleCnt="0"/>
      <dgm:spPr/>
    </dgm:pt>
    <dgm:pt modelId="{2C7427D7-C8BB-4D6D-B859-E0125CADDA70}" type="pres">
      <dgm:prSet presAssocID="{BB3626A6-72B5-4C05-BD0E-F635231E4A7C}" presName="hierChild3" presStyleCnt="0"/>
      <dgm:spPr/>
    </dgm:pt>
  </dgm:ptLst>
  <dgm:cxnLst>
    <dgm:cxn modelId="{45650F07-2A20-4378-94DF-59A4C2C418EC}" type="presOf" srcId="{680E930A-534C-4EC6-92F0-8EA2FD060821}" destId="{53773FB6-7EF9-4266-9FFC-98530EA6C636}" srcOrd="0" destOrd="0" presId="urn:microsoft.com/office/officeart/2005/8/layout/orgChart1"/>
    <dgm:cxn modelId="{08B1190B-13F2-483A-9D36-37C09BB9962A}" type="presOf" srcId="{A3E72E16-8931-4F42-BB8B-8D8FA76785D1}" destId="{ADFE5A30-A23E-4ED4-941C-D8A09C3381FF}" srcOrd="0" destOrd="0" presId="urn:microsoft.com/office/officeart/2005/8/layout/orgChart1"/>
    <dgm:cxn modelId="{E3D1270C-2B03-4713-95D9-4AD7DF15E62A}" type="presOf" srcId="{10A775BF-FB81-4FE9-8307-F27E073C2BF0}" destId="{243E1AE7-4C70-444D-B073-52369E599DF3}" srcOrd="0" destOrd="0" presId="urn:microsoft.com/office/officeart/2005/8/layout/orgChart1"/>
    <dgm:cxn modelId="{694BCB0E-C398-4CCB-8893-94DC92CAF7BA}" type="presOf" srcId="{ED5346B1-FB31-45DC-BEED-2489B9E4D61E}" destId="{A368575E-878A-4A17-9FB9-06358D0BDDFC}" srcOrd="0" destOrd="0" presId="urn:microsoft.com/office/officeart/2005/8/layout/orgChart1"/>
    <dgm:cxn modelId="{F6F7E410-A6DA-4576-BD8E-1A6FB6D84E9B}" type="presOf" srcId="{5C7C4D48-E3D8-4A4D-AE6C-CC596B1DD3A0}" destId="{E64BF273-62F2-4F0B-812F-9DB8D14A1E0B}" srcOrd="0" destOrd="0" presId="urn:microsoft.com/office/officeart/2005/8/layout/orgChart1"/>
    <dgm:cxn modelId="{FDB57B13-5BD0-41D6-ADC5-39D244D6148B}" type="presOf" srcId="{2C1488E2-CADC-42B3-AE16-1BBFC3BAEAC6}" destId="{435C5C73-FB77-46BD-A2AB-8C56A39CCA24}" srcOrd="0" destOrd="0" presId="urn:microsoft.com/office/officeart/2005/8/layout/orgChart1"/>
    <dgm:cxn modelId="{9C96FA13-E8DB-495A-8474-29F03E55C700}" srcId="{2C1488E2-CADC-42B3-AE16-1BBFC3BAEAC6}" destId="{E18A361D-99AD-46AF-BE47-DAEEB9B8D701}" srcOrd="0" destOrd="0" parTransId="{14F71904-B70C-42D2-8F0D-E6E175EF7D50}" sibTransId="{34D6086C-EE99-4762-8058-4F5316B0D8DC}"/>
    <dgm:cxn modelId="{67386E1A-87CF-408D-8892-6CA0E99D287A}" srcId="{E18A361D-99AD-46AF-BE47-DAEEB9B8D701}" destId="{10A775BF-FB81-4FE9-8307-F27E073C2BF0}" srcOrd="0" destOrd="0" parTransId="{A3E72E16-8931-4F42-BB8B-8D8FA76785D1}" sibTransId="{DEE411CF-5638-4FBF-A1D1-5429777A6180}"/>
    <dgm:cxn modelId="{69F9ED1A-47C5-41A2-BCE7-91A1FFB13F28}" type="presOf" srcId="{21110BA1-D8CF-4651-BF4B-F97B25412FA1}" destId="{9348FF4D-7B72-4725-B724-E4795A7F6F3B}" srcOrd="0" destOrd="0" presId="urn:microsoft.com/office/officeart/2005/8/layout/orgChart1"/>
    <dgm:cxn modelId="{72019D1D-163B-4765-BDCC-318BC2675C2C}" srcId="{167217BB-8478-4813-B1AD-68426052276C}" destId="{E2101C0C-4BC3-46BA-BA43-A6BFFF8D8A6D}" srcOrd="0" destOrd="0" parTransId="{5620ACA5-0E51-458E-911E-767840183F6D}" sibTransId="{238ECA8F-DC83-41A2-B01C-6123C3531D4F}"/>
    <dgm:cxn modelId="{97F57D25-6CA9-4157-9D65-7682A477F7E2}" type="presOf" srcId="{14F71904-B70C-42D2-8F0D-E6E175EF7D50}" destId="{2844B1A1-A688-4D7D-8F68-9CF90D262F6D}" srcOrd="0" destOrd="0" presId="urn:microsoft.com/office/officeart/2005/8/layout/orgChart1"/>
    <dgm:cxn modelId="{8F71E229-3A58-441F-85D4-A4B9AD1D7AB1}" type="presOf" srcId="{5620ACA5-0E51-458E-911E-767840183F6D}" destId="{378D118F-492E-497A-BC64-4C1494A935A0}" srcOrd="0" destOrd="0" presId="urn:microsoft.com/office/officeart/2005/8/layout/orgChart1"/>
    <dgm:cxn modelId="{783CA42E-749F-4150-906C-636AFACBC9F4}" type="presOf" srcId="{B1F24D79-EAFC-4367-9C27-D26698BF860E}" destId="{96175828-F05C-4C9A-9A20-8B0AA1D87511}" srcOrd="0" destOrd="0" presId="urn:microsoft.com/office/officeart/2005/8/layout/orgChart1"/>
    <dgm:cxn modelId="{BB557535-9124-4E69-977B-6E6B394FD820}" type="presOf" srcId="{FFAEE05F-A3B2-4946-921E-3ACA479BD5F7}" destId="{59BF214F-7A9B-41BA-BEEA-571AA9E7B770}" srcOrd="1" destOrd="0" presId="urn:microsoft.com/office/officeart/2005/8/layout/orgChart1"/>
    <dgm:cxn modelId="{98A71839-6677-499C-8A83-21B2D6460DA8}" type="presOf" srcId="{BB3626A6-72B5-4C05-BD0E-F635231E4A7C}" destId="{408746BE-A6B9-40DC-8D61-62BD2AB703E2}" srcOrd="1" destOrd="0" presId="urn:microsoft.com/office/officeart/2005/8/layout/orgChart1"/>
    <dgm:cxn modelId="{88D3143A-18A5-45D0-83C8-A22B04BDA1AF}" type="presOf" srcId="{B1F24D79-EAFC-4367-9C27-D26698BF860E}" destId="{85C9AE2A-5D19-4414-867F-A2B62BA3EF19}" srcOrd="1" destOrd="0" presId="urn:microsoft.com/office/officeart/2005/8/layout/orgChart1"/>
    <dgm:cxn modelId="{E37CA53D-D4AD-41DE-8FA3-694F818A1B0E}" type="presOf" srcId="{748EBF86-8967-49D3-BFF8-A2DA6A650372}" destId="{FC98E737-A549-4F66-918E-F885C880348A}" srcOrd="1" destOrd="0" presId="urn:microsoft.com/office/officeart/2005/8/layout/orgChart1"/>
    <dgm:cxn modelId="{E667E23D-506E-4AAA-B869-C995103582CB}" type="presOf" srcId="{2C1488E2-CADC-42B3-AE16-1BBFC3BAEAC6}" destId="{3D7890F1-29C3-4513-80D9-6C3DDE6548E3}" srcOrd="1" destOrd="0" presId="urn:microsoft.com/office/officeart/2005/8/layout/orgChart1"/>
    <dgm:cxn modelId="{E9D86B42-0B7D-4BDD-ACB8-7BC73A9B752E}" type="presOf" srcId="{849E44EE-44A5-47D8-97E3-9A0E08114DF3}" destId="{089F08E4-43E3-4D23-A553-F6671F57FC23}" srcOrd="0" destOrd="0" presId="urn:microsoft.com/office/officeart/2005/8/layout/orgChart1"/>
    <dgm:cxn modelId="{1EF5A942-9D78-43DE-B6AC-1654A8D1F006}" srcId="{21110BA1-D8CF-4651-BF4B-F97B25412FA1}" destId="{B1F24D79-EAFC-4367-9C27-D26698BF860E}" srcOrd="0" destOrd="0" parTransId="{8B2D1C90-E498-4519-9328-4AC4D022023F}" sibTransId="{DD51CA53-0EBB-44E1-BF88-E5C9CDE47072}"/>
    <dgm:cxn modelId="{DDA2B964-39F9-449E-999E-BC658776500D}" type="presOf" srcId="{3D1A6262-E88D-4465-8389-C9B99C6BC462}" destId="{BEC018FB-0456-4242-B043-C01C5FB89F32}" srcOrd="0" destOrd="0" presId="urn:microsoft.com/office/officeart/2005/8/layout/orgChart1"/>
    <dgm:cxn modelId="{249C2A6F-6B3F-4BEF-AFE4-68C3A3ED83B3}" type="presOf" srcId="{C11B16D2-9890-4177-A8CD-74565EF11DFE}" destId="{C087CD7B-211D-43B6-826B-3DA3C8E231F6}" srcOrd="0" destOrd="0" presId="urn:microsoft.com/office/officeart/2005/8/layout/orgChart1"/>
    <dgm:cxn modelId="{40D22856-690E-470B-A6E4-695312FAFBC5}" type="presOf" srcId="{748EBF86-8967-49D3-BFF8-A2DA6A650372}" destId="{418DC575-0959-4C1C-8CBE-87AEE66B90A8}" srcOrd="0" destOrd="0" presId="urn:microsoft.com/office/officeart/2005/8/layout/orgChart1"/>
    <dgm:cxn modelId="{4076337A-B76C-4028-8380-FB2880079CB7}" type="presOf" srcId="{167217BB-8478-4813-B1AD-68426052276C}" destId="{1FA245CC-5936-4C0E-A175-5A5CA2C74FD2}" srcOrd="1" destOrd="0" presId="urn:microsoft.com/office/officeart/2005/8/layout/orgChart1"/>
    <dgm:cxn modelId="{67A4CD7E-CBC6-419E-ABF2-30C73FE64FF4}" type="presOf" srcId="{E18A361D-99AD-46AF-BE47-DAEEB9B8D701}" destId="{09F79986-6E17-41FC-8C0A-D38CBF380E26}" srcOrd="0" destOrd="0" presId="urn:microsoft.com/office/officeart/2005/8/layout/orgChart1"/>
    <dgm:cxn modelId="{F8657D7F-FB82-47CB-B056-D2AE83E9D478}" srcId="{B1F24D79-EAFC-4367-9C27-D26698BF860E}" destId="{EE2B8E74-6DD1-4E11-A6F0-7E0FD2758E6E}" srcOrd="0" destOrd="0" parTransId="{FF1C3ECD-E77F-4FDE-8332-826C34135938}" sibTransId="{67C8903D-A0B0-434F-B790-AE001B7E7F68}"/>
    <dgm:cxn modelId="{AA184986-2E55-4E32-AFD5-94AB53B54C28}" type="presOf" srcId="{2A1DB5B4-7ADF-4FA5-BA43-B8A74512EE4D}" destId="{66CA087A-5D03-48AC-A9E6-9A0CB6D3D496}" srcOrd="0" destOrd="0" presId="urn:microsoft.com/office/officeart/2005/8/layout/orgChart1"/>
    <dgm:cxn modelId="{67291E89-8F24-43E1-9491-09E59E3A6436}" type="presOf" srcId="{09AA7C80-1FFF-4083-B9E5-9989574F703D}" destId="{4C99D460-E431-4CDD-96B6-B4C2FC517CAE}" srcOrd="1" destOrd="0" presId="urn:microsoft.com/office/officeart/2005/8/layout/orgChart1"/>
    <dgm:cxn modelId="{C5A7138F-0C30-4542-8CF8-EF56FC4637CE}" type="presOf" srcId="{E2101C0C-4BC3-46BA-BA43-A6BFFF8D8A6D}" destId="{E891AF91-81C6-489C-A4AA-9CC495B8EE6D}" srcOrd="1" destOrd="0" presId="urn:microsoft.com/office/officeart/2005/8/layout/orgChart1"/>
    <dgm:cxn modelId="{2D922490-BFC1-4A0A-B743-FB8733D6C07F}" type="presOf" srcId="{FF1C3ECD-E77F-4FDE-8332-826C34135938}" destId="{2A93D2A8-0B62-4D07-93CD-2872A1A735D0}" srcOrd="0" destOrd="0" presId="urn:microsoft.com/office/officeart/2005/8/layout/orgChart1"/>
    <dgm:cxn modelId="{D71E0D94-EF4C-489F-A241-30414642033C}" type="presOf" srcId="{FFAEE05F-A3B2-4946-921E-3ACA479BD5F7}" destId="{8E4A5BDF-D463-4990-942E-6FA01D277F0F}" srcOrd="0" destOrd="0" presId="urn:microsoft.com/office/officeart/2005/8/layout/orgChart1"/>
    <dgm:cxn modelId="{C2B8CF96-BD37-4179-A08C-6B0AFC2119DE}" type="presOf" srcId="{10A775BF-FB81-4FE9-8307-F27E073C2BF0}" destId="{AFB8E566-AA9A-4E59-A092-99249ABB0493}" srcOrd="1" destOrd="0" presId="urn:microsoft.com/office/officeart/2005/8/layout/orgChart1"/>
    <dgm:cxn modelId="{94406197-109F-4037-8F67-F33942077E3B}" type="presOf" srcId="{BB3626A6-72B5-4C05-BD0E-F635231E4A7C}" destId="{305AE4D4-FE81-4223-833C-050132E5FC8D}" srcOrd="0" destOrd="0" presId="urn:microsoft.com/office/officeart/2005/8/layout/orgChart1"/>
    <dgm:cxn modelId="{26A3329C-EF84-46FA-8C58-2B6A4E5E7958}" type="presOf" srcId="{E18A361D-99AD-46AF-BE47-DAEEB9B8D701}" destId="{C4A158F3-954C-4941-9DC2-B85FA9E077F7}" srcOrd="1" destOrd="0" presId="urn:microsoft.com/office/officeart/2005/8/layout/orgChart1"/>
    <dgm:cxn modelId="{6FC447A4-24CA-46E8-8260-657126714391}" srcId="{09AA7C80-1FFF-4083-B9E5-9989574F703D}" destId="{748EBF86-8967-49D3-BFF8-A2DA6A650372}" srcOrd="0" destOrd="0" parTransId="{5C7C4D48-E3D8-4A4D-AE6C-CC596B1DD3A0}" sibTransId="{A09C75A2-5378-4EC0-8B23-7D86D3220CD0}"/>
    <dgm:cxn modelId="{C2E911A9-0C5F-4A8B-9C36-E0562FAAE558}" type="presOf" srcId="{EE2B8E74-6DD1-4E11-A6F0-7E0FD2758E6E}" destId="{7F69176B-AEA9-4624-9C3A-301703D69185}" srcOrd="1" destOrd="0" presId="urn:microsoft.com/office/officeart/2005/8/layout/orgChart1"/>
    <dgm:cxn modelId="{8AA376A9-E574-4B67-B599-7AFC5E2DAE00}" type="presOf" srcId="{EE2B8E74-6DD1-4E11-A6F0-7E0FD2758E6E}" destId="{B1287D45-6FF8-41FF-A4A6-A9EA5C1AAB77}" srcOrd="0" destOrd="0" presId="urn:microsoft.com/office/officeart/2005/8/layout/orgChart1"/>
    <dgm:cxn modelId="{565606B3-85C4-40FE-A444-8C8940FCEFEE}" srcId="{BB3626A6-72B5-4C05-BD0E-F635231E4A7C}" destId="{2C1488E2-CADC-42B3-AE16-1BBFC3BAEAC6}" srcOrd="0" destOrd="0" parTransId="{C11B16D2-9890-4177-A8CD-74565EF11DFE}" sibTransId="{743CA425-8FEF-4DC4-B09D-DC4F884E3097}"/>
    <dgm:cxn modelId="{9D1393B5-78D8-4DD5-A745-01D55F966D75}" type="presOf" srcId="{21110BA1-D8CF-4651-BF4B-F97B25412FA1}" destId="{27562FD2-1209-487A-B1B5-7B751431D816}" srcOrd="1" destOrd="0" presId="urn:microsoft.com/office/officeart/2005/8/layout/orgChart1"/>
    <dgm:cxn modelId="{CD319DC2-1D70-42A3-B1B2-7ED1ECAA27CC}" type="presOf" srcId="{167217BB-8478-4813-B1AD-68426052276C}" destId="{9E09FB55-CD6F-4604-9B31-0B7B45CFDB00}" srcOrd="0" destOrd="0" presId="urn:microsoft.com/office/officeart/2005/8/layout/orgChart1"/>
    <dgm:cxn modelId="{4DE03EC7-1DEE-4637-BEF6-791FD9B1F9ED}" type="presOf" srcId="{E2101C0C-4BC3-46BA-BA43-A6BFFF8D8A6D}" destId="{1CA9EF1D-1D05-44D8-9725-9B77682407D5}" srcOrd="0" destOrd="0" presId="urn:microsoft.com/office/officeart/2005/8/layout/orgChart1"/>
    <dgm:cxn modelId="{895800CD-A654-4154-9BFE-06726E22EB9F}" srcId="{2C1488E2-CADC-42B3-AE16-1BBFC3BAEAC6}" destId="{09AA7C80-1FFF-4083-B9E5-9989574F703D}" srcOrd="1" destOrd="0" parTransId="{3D1A6262-E88D-4465-8389-C9B99C6BC462}" sibTransId="{A0D16D1C-CEF8-48AA-B503-54C26D87D0C0}"/>
    <dgm:cxn modelId="{99DE07CE-A608-4B5C-A320-6510006418D9}" srcId="{B1F24D79-EAFC-4367-9C27-D26698BF860E}" destId="{FFAEE05F-A3B2-4946-921E-3ACA479BD5F7}" srcOrd="1" destOrd="0" parTransId="{680E930A-534C-4EC6-92F0-8EA2FD060821}" sibTransId="{6ADF40F8-167C-4AFA-B336-1D0EBC8E5A22}"/>
    <dgm:cxn modelId="{B3C89FEA-D52B-45E5-8B30-05176D771AC6}" srcId="{BB3626A6-72B5-4C05-BD0E-F635231E4A7C}" destId="{21110BA1-D8CF-4651-BF4B-F97B25412FA1}" srcOrd="1" destOrd="0" parTransId="{849E44EE-44A5-47D8-97E3-9A0E08114DF3}" sibTransId="{AC35D29E-A34A-48CF-B975-1E065B2C7633}"/>
    <dgm:cxn modelId="{1557B9EA-6557-4C26-B1A1-E3640D34E6EB}" srcId="{BB3626A6-72B5-4C05-BD0E-F635231E4A7C}" destId="{167217BB-8478-4813-B1AD-68426052276C}" srcOrd="2" destOrd="0" parTransId="{2A1DB5B4-7ADF-4FA5-BA43-B8A74512EE4D}" sibTransId="{EA3B0152-C7A5-4F2F-B7F5-9E3FF7B8B3D2}"/>
    <dgm:cxn modelId="{21088CEF-38F7-472E-B894-91F2C3229ACB}" type="presOf" srcId="{8B2D1C90-E498-4519-9328-4AC4D022023F}" destId="{DD0F232F-2C28-4FBE-957B-A2F37C1525CE}" srcOrd="0" destOrd="0" presId="urn:microsoft.com/office/officeart/2005/8/layout/orgChart1"/>
    <dgm:cxn modelId="{C90D00F6-21AC-40BE-8D1B-3D5C0A583522}" srcId="{ED5346B1-FB31-45DC-BEED-2489B9E4D61E}" destId="{BB3626A6-72B5-4C05-BD0E-F635231E4A7C}" srcOrd="0" destOrd="0" parTransId="{14FE1C74-D5F3-4195-AF5A-3D162D70A6B2}" sibTransId="{A0045F94-6EB4-4F29-969E-72EC2A0D5843}"/>
    <dgm:cxn modelId="{CA5EBAF6-71A2-4009-BCB6-761C1864A6EE}" type="presOf" srcId="{09AA7C80-1FFF-4083-B9E5-9989574F703D}" destId="{B6A82E9A-F2E0-4A35-B59D-B91D038778A1}" srcOrd="0" destOrd="0" presId="urn:microsoft.com/office/officeart/2005/8/layout/orgChart1"/>
    <dgm:cxn modelId="{5476B839-A718-4B9F-BAEF-F8A2A7D14403}" type="presParOf" srcId="{A368575E-878A-4A17-9FB9-06358D0BDDFC}" destId="{BC743BC3-652F-403A-B3DD-10B5A711C55A}" srcOrd="0" destOrd="0" presId="urn:microsoft.com/office/officeart/2005/8/layout/orgChart1"/>
    <dgm:cxn modelId="{47C7EB95-6BB6-4E10-9642-8375EAAAE101}" type="presParOf" srcId="{BC743BC3-652F-403A-B3DD-10B5A711C55A}" destId="{76B5F1F8-01E5-4057-90CB-69C348DBFDF9}" srcOrd="0" destOrd="0" presId="urn:microsoft.com/office/officeart/2005/8/layout/orgChart1"/>
    <dgm:cxn modelId="{765F0A5E-49B4-48C2-8429-DDE55580B404}" type="presParOf" srcId="{76B5F1F8-01E5-4057-90CB-69C348DBFDF9}" destId="{305AE4D4-FE81-4223-833C-050132E5FC8D}" srcOrd="0" destOrd="0" presId="urn:microsoft.com/office/officeart/2005/8/layout/orgChart1"/>
    <dgm:cxn modelId="{386A5D76-04A6-42A8-94DB-3B5453D3EC71}" type="presParOf" srcId="{76B5F1F8-01E5-4057-90CB-69C348DBFDF9}" destId="{408746BE-A6B9-40DC-8D61-62BD2AB703E2}" srcOrd="1" destOrd="0" presId="urn:microsoft.com/office/officeart/2005/8/layout/orgChart1"/>
    <dgm:cxn modelId="{18025EBE-E8F0-44BF-9545-4ABE6AD02C8A}" type="presParOf" srcId="{BC743BC3-652F-403A-B3DD-10B5A711C55A}" destId="{A2122E95-C7B0-40BE-978D-70EC32B05E59}" srcOrd="1" destOrd="0" presId="urn:microsoft.com/office/officeart/2005/8/layout/orgChart1"/>
    <dgm:cxn modelId="{66AC9907-2B85-4CCC-A86A-0317F138A696}" type="presParOf" srcId="{A2122E95-C7B0-40BE-978D-70EC32B05E59}" destId="{C087CD7B-211D-43B6-826B-3DA3C8E231F6}" srcOrd="0" destOrd="0" presId="urn:microsoft.com/office/officeart/2005/8/layout/orgChart1"/>
    <dgm:cxn modelId="{E5BF87C6-B13A-443C-9B8B-F7F4B0ECCF98}" type="presParOf" srcId="{A2122E95-C7B0-40BE-978D-70EC32B05E59}" destId="{4560A606-680D-4454-BB22-3C93720988FB}" srcOrd="1" destOrd="0" presId="urn:microsoft.com/office/officeart/2005/8/layout/orgChart1"/>
    <dgm:cxn modelId="{4315596D-6E78-47BD-9737-01AB50FC8239}" type="presParOf" srcId="{4560A606-680D-4454-BB22-3C93720988FB}" destId="{DE3F75DE-8FC9-422A-9282-9C1418BE99BC}" srcOrd="0" destOrd="0" presId="urn:microsoft.com/office/officeart/2005/8/layout/orgChart1"/>
    <dgm:cxn modelId="{07F04786-7391-4BF7-B269-36803C8728E6}" type="presParOf" srcId="{DE3F75DE-8FC9-422A-9282-9C1418BE99BC}" destId="{435C5C73-FB77-46BD-A2AB-8C56A39CCA24}" srcOrd="0" destOrd="0" presId="urn:microsoft.com/office/officeart/2005/8/layout/orgChart1"/>
    <dgm:cxn modelId="{05F54990-27AC-4D2A-921A-DAAB88FD6EF1}" type="presParOf" srcId="{DE3F75DE-8FC9-422A-9282-9C1418BE99BC}" destId="{3D7890F1-29C3-4513-80D9-6C3DDE6548E3}" srcOrd="1" destOrd="0" presId="urn:microsoft.com/office/officeart/2005/8/layout/orgChart1"/>
    <dgm:cxn modelId="{8588B38D-675F-455C-8C1D-9C56E383E27D}" type="presParOf" srcId="{4560A606-680D-4454-BB22-3C93720988FB}" destId="{E6F5BD8F-8416-4BEF-A54D-F26E72B8F915}" srcOrd="1" destOrd="0" presId="urn:microsoft.com/office/officeart/2005/8/layout/orgChart1"/>
    <dgm:cxn modelId="{A9E17B1C-6D98-4654-89BF-C6945532393C}" type="presParOf" srcId="{E6F5BD8F-8416-4BEF-A54D-F26E72B8F915}" destId="{2844B1A1-A688-4D7D-8F68-9CF90D262F6D}" srcOrd="0" destOrd="0" presId="urn:microsoft.com/office/officeart/2005/8/layout/orgChart1"/>
    <dgm:cxn modelId="{AB089F03-D2D6-464A-B37F-EEF45BC8E836}" type="presParOf" srcId="{E6F5BD8F-8416-4BEF-A54D-F26E72B8F915}" destId="{3AF0123D-3913-4274-83CE-C0684CBE2384}" srcOrd="1" destOrd="0" presId="urn:microsoft.com/office/officeart/2005/8/layout/orgChart1"/>
    <dgm:cxn modelId="{6A556FE9-36F4-4D8F-AFE0-B31AA24EB478}" type="presParOf" srcId="{3AF0123D-3913-4274-83CE-C0684CBE2384}" destId="{B854D007-0797-44EB-8E65-BE34456450B8}" srcOrd="0" destOrd="0" presId="urn:microsoft.com/office/officeart/2005/8/layout/orgChart1"/>
    <dgm:cxn modelId="{56FF2F92-6002-4C1B-9F6C-2EC858F04A62}" type="presParOf" srcId="{B854D007-0797-44EB-8E65-BE34456450B8}" destId="{09F79986-6E17-41FC-8C0A-D38CBF380E26}" srcOrd="0" destOrd="0" presId="urn:microsoft.com/office/officeart/2005/8/layout/orgChart1"/>
    <dgm:cxn modelId="{01D78C6C-7CBE-4E4D-AD11-FC93C7713610}" type="presParOf" srcId="{B854D007-0797-44EB-8E65-BE34456450B8}" destId="{C4A158F3-954C-4941-9DC2-B85FA9E077F7}" srcOrd="1" destOrd="0" presId="urn:microsoft.com/office/officeart/2005/8/layout/orgChart1"/>
    <dgm:cxn modelId="{5F82FEF6-3078-4CC4-A15A-F23C3F1BD24E}" type="presParOf" srcId="{3AF0123D-3913-4274-83CE-C0684CBE2384}" destId="{5BCDACAE-C294-482E-9532-A966850602D8}" srcOrd="1" destOrd="0" presId="urn:microsoft.com/office/officeart/2005/8/layout/orgChart1"/>
    <dgm:cxn modelId="{3B7AD691-27FA-446B-A1D3-F1B0419BC9E6}" type="presParOf" srcId="{5BCDACAE-C294-482E-9532-A966850602D8}" destId="{ADFE5A30-A23E-4ED4-941C-D8A09C3381FF}" srcOrd="0" destOrd="0" presId="urn:microsoft.com/office/officeart/2005/8/layout/orgChart1"/>
    <dgm:cxn modelId="{4132B7D8-FE4F-4D36-BB00-5087E22B63A5}" type="presParOf" srcId="{5BCDACAE-C294-482E-9532-A966850602D8}" destId="{C1366F9D-C6D9-48E6-80A5-A768A4D9D0F7}" srcOrd="1" destOrd="0" presId="urn:microsoft.com/office/officeart/2005/8/layout/orgChart1"/>
    <dgm:cxn modelId="{9CF8665E-8D8B-46D2-81E8-C4099364D0CC}" type="presParOf" srcId="{C1366F9D-C6D9-48E6-80A5-A768A4D9D0F7}" destId="{2BE9D49D-9CC2-47BE-8CE1-8123F98AFEE5}" srcOrd="0" destOrd="0" presId="urn:microsoft.com/office/officeart/2005/8/layout/orgChart1"/>
    <dgm:cxn modelId="{738E08E7-9975-436E-A94C-B825C3387AE5}" type="presParOf" srcId="{2BE9D49D-9CC2-47BE-8CE1-8123F98AFEE5}" destId="{243E1AE7-4C70-444D-B073-52369E599DF3}" srcOrd="0" destOrd="0" presId="urn:microsoft.com/office/officeart/2005/8/layout/orgChart1"/>
    <dgm:cxn modelId="{F93C39CC-9B52-4C0B-B20C-79F8E584E006}" type="presParOf" srcId="{2BE9D49D-9CC2-47BE-8CE1-8123F98AFEE5}" destId="{AFB8E566-AA9A-4E59-A092-99249ABB0493}" srcOrd="1" destOrd="0" presId="urn:microsoft.com/office/officeart/2005/8/layout/orgChart1"/>
    <dgm:cxn modelId="{854D2009-4222-42B0-B6EE-D9DDFB25327C}" type="presParOf" srcId="{C1366F9D-C6D9-48E6-80A5-A768A4D9D0F7}" destId="{E89D4DC6-7D9D-48F1-BA67-41968B3747A8}" srcOrd="1" destOrd="0" presId="urn:microsoft.com/office/officeart/2005/8/layout/orgChart1"/>
    <dgm:cxn modelId="{1B9CC13D-4F6B-4CB7-95F9-53A1EB6D3259}" type="presParOf" srcId="{C1366F9D-C6D9-48E6-80A5-A768A4D9D0F7}" destId="{A8635D59-C066-4988-83B2-398E12A83B9B}" srcOrd="2" destOrd="0" presId="urn:microsoft.com/office/officeart/2005/8/layout/orgChart1"/>
    <dgm:cxn modelId="{2C343663-EFA6-45E5-B829-00658233744B}" type="presParOf" srcId="{3AF0123D-3913-4274-83CE-C0684CBE2384}" destId="{795CA5DE-1F53-4165-ADAC-755CFA8840A6}" srcOrd="2" destOrd="0" presId="urn:microsoft.com/office/officeart/2005/8/layout/orgChart1"/>
    <dgm:cxn modelId="{0C89581B-4D75-4771-88F5-D678F76B3D09}" type="presParOf" srcId="{E6F5BD8F-8416-4BEF-A54D-F26E72B8F915}" destId="{BEC018FB-0456-4242-B043-C01C5FB89F32}" srcOrd="2" destOrd="0" presId="urn:microsoft.com/office/officeart/2005/8/layout/orgChart1"/>
    <dgm:cxn modelId="{9AA6E584-2125-4446-B0A8-AF04A8B79536}" type="presParOf" srcId="{E6F5BD8F-8416-4BEF-A54D-F26E72B8F915}" destId="{F33AB80E-88C8-496C-A3DC-FE2E2B34A700}" srcOrd="3" destOrd="0" presId="urn:microsoft.com/office/officeart/2005/8/layout/orgChart1"/>
    <dgm:cxn modelId="{42FF01B0-1B8D-42C6-A1CF-FC41376471B6}" type="presParOf" srcId="{F33AB80E-88C8-496C-A3DC-FE2E2B34A700}" destId="{B1E06B2C-7B2C-4B04-9728-CB17E6DD907D}" srcOrd="0" destOrd="0" presId="urn:microsoft.com/office/officeart/2005/8/layout/orgChart1"/>
    <dgm:cxn modelId="{047885AA-5EC7-462C-B60E-B8FD7C69133B}" type="presParOf" srcId="{B1E06B2C-7B2C-4B04-9728-CB17E6DD907D}" destId="{B6A82E9A-F2E0-4A35-B59D-B91D038778A1}" srcOrd="0" destOrd="0" presId="urn:microsoft.com/office/officeart/2005/8/layout/orgChart1"/>
    <dgm:cxn modelId="{610A1334-7536-4A3B-AD80-64F6B34E3542}" type="presParOf" srcId="{B1E06B2C-7B2C-4B04-9728-CB17E6DD907D}" destId="{4C99D460-E431-4CDD-96B6-B4C2FC517CAE}" srcOrd="1" destOrd="0" presId="urn:microsoft.com/office/officeart/2005/8/layout/orgChart1"/>
    <dgm:cxn modelId="{B02068C2-D932-486D-95D2-6F54C9F9C6DA}" type="presParOf" srcId="{F33AB80E-88C8-496C-A3DC-FE2E2B34A700}" destId="{287552AE-DFE3-4605-A532-E75118CB9ABF}" srcOrd="1" destOrd="0" presId="urn:microsoft.com/office/officeart/2005/8/layout/orgChart1"/>
    <dgm:cxn modelId="{FB4CCA16-74C6-4ECD-B971-68826C0A1A42}" type="presParOf" srcId="{287552AE-DFE3-4605-A532-E75118CB9ABF}" destId="{E64BF273-62F2-4F0B-812F-9DB8D14A1E0B}" srcOrd="0" destOrd="0" presId="urn:microsoft.com/office/officeart/2005/8/layout/orgChart1"/>
    <dgm:cxn modelId="{0D74ECAD-C2A1-46B8-8582-8FF59A372A19}" type="presParOf" srcId="{287552AE-DFE3-4605-A532-E75118CB9ABF}" destId="{9B2C7B8E-B422-4E73-BD9A-1651B82B2386}" srcOrd="1" destOrd="0" presId="urn:microsoft.com/office/officeart/2005/8/layout/orgChart1"/>
    <dgm:cxn modelId="{B4309BBA-E700-46E7-AEE1-0D7E2444D947}" type="presParOf" srcId="{9B2C7B8E-B422-4E73-BD9A-1651B82B2386}" destId="{BCE6FF21-625D-4022-8BB1-EC12D725DC1E}" srcOrd="0" destOrd="0" presId="urn:microsoft.com/office/officeart/2005/8/layout/orgChart1"/>
    <dgm:cxn modelId="{3C939077-A121-4B4F-973A-123A3DBF33F8}" type="presParOf" srcId="{BCE6FF21-625D-4022-8BB1-EC12D725DC1E}" destId="{418DC575-0959-4C1C-8CBE-87AEE66B90A8}" srcOrd="0" destOrd="0" presId="urn:microsoft.com/office/officeart/2005/8/layout/orgChart1"/>
    <dgm:cxn modelId="{654AB10F-4E87-4DD7-92C0-630EBBBDBEA3}" type="presParOf" srcId="{BCE6FF21-625D-4022-8BB1-EC12D725DC1E}" destId="{FC98E737-A549-4F66-918E-F885C880348A}" srcOrd="1" destOrd="0" presId="urn:microsoft.com/office/officeart/2005/8/layout/orgChart1"/>
    <dgm:cxn modelId="{8327E4C3-43BA-4B18-B575-3407372FD3E0}" type="presParOf" srcId="{9B2C7B8E-B422-4E73-BD9A-1651B82B2386}" destId="{322EC16B-ACA8-42CB-87B6-2C7EC84137EC}" srcOrd="1" destOrd="0" presId="urn:microsoft.com/office/officeart/2005/8/layout/orgChart1"/>
    <dgm:cxn modelId="{DEA29A85-DA34-4F9C-B4CD-DE543FBBB013}" type="presParOf" srcId="{9B2C7B8E-B422-4E73-BD9A-1651B82B2386}" destId="{BD42FD67-65F5-4FA2-A747-AC6385317A3C}" srcOrd="2" destOrd="0" presId="urn:microsoft.com/office/officeart/2005/8/layout/orgChart1"/>
    <dgm:cxn modelId="{F98AC1E6-70A3-469C-AFA9-474FE5C97E7B}" type="presParOf" srcId="{F33AB80E-88C8-496C-A3DC-FE2E2B34A700}" destId="{50FC9AA1-06DA-4995-A53C-5742E0B21C87}" srcOrd="2" destOrd="0" presId="urn:microsoft.com/office/officeart/2005/8/layout/orgChart1"/>
    <dgm:cxn modelId="{005B921C-6701-4F9D-88F7-BD1AFB875D99}" type="presParOf" srcId="{4560A606-680D-4454-BB22-3C93720988FB}" destId="{1050D6A5-E18C-49C2-A5D6-112235FDB764}" srcOrd="2" destOrd="0" presId="urn:microsoft.com/office/officeart/2005/8/layout/orgChart1"/>
    <dgm:cxn modelId="{703FD3BA-5102-4837-9D27-2FEBEDBB52F3}" type="presParOf" srcId="{A2122E95-C7B0-40BE-978D-70EC32B05E59}" destId="{089F08E4-43E3-4D23-A553-F6671F57FC23}" srcOrd="2" destOrd="0" presId="urn:microsoft.com/office/officeart/2005/8/layout/orgChart1"/>
    <dgm:cxn modelId="{0EE2D3FE-C085-419A-83A9-74709ED922A7}" type="presParOf" srcId="{A2122E95-C7B0-40BE-978D-70EC32B05E59}" destId="{F85D79AA-8BA6-4531-81CD-3DCDDE73F6D6}" srcOrd="3" destOrd="0" presId="urn:microsoft.com/office/officeart/2005/8/layout/orgChart1"/>
    <dgm:cxn modelId="{8CE5A467-AE9D-42E7-A01E-EB08A6050B24}" type="presParOf" srcId="{F85D79AA-8BA6-4531-81CD-3DCDDE73F6D6}" destId="{CB965178-8E44-4310-9DA3-BDA67B929AAF}" srcOrd="0" destOrd="0" presId="urn:microsoft.com/office/officeart/2005/8/layout/orgChart1"/>
    <dgm:cxn modelId="{91296B34-2965-495B-9494-83132B48B305}" type="presParOf" srcId="{CB965178-8E44-4310-9DA3-BDA67B929AAF}" destId="{9348FF4D-7B72-4725-B724-E4795A7F6F3B}" srcOrd="0" destOrd="0" presId="urn:microsoft.com/office/officeart/2005/8/layout/orgChart1"/>
    <dgm:cxn modelId="{85CF6ED5-FF13-4D32-BFE1-9007A8D1BE93}" type="presParOf" srcId="{CB965178-8E44-4310-9DA3-BDA67B929AAF}" destId="{27562FD2-1209-487A-B1B5-7B751431D816}" srcOrd="1" destOrd="0" presId="urn:microsoft.com/office/officeart/2005/8/layout/orgChart1"/>
    <dgm:cxn modelId="{4159BD40-7AAA-4954-829F-C648B2109E82}" type="presParOf" srcId="{F85D79AA-8BA6-4531-81CD-3DCDDE73F6D6}" destId="{74D0805A-1005-402F-A2EF-6A99482B50CB}" srcOrd="1" destOrd="0" presId="urn:microsoft.com/office/officeart/2005/8/layout/orgChart1"/>
    <dgm:cxn modelId="{EA657615-DC5F-4664-8F3B-2710DB02C407}" type="presParOf" srcId="{74D0805A-1005-402F-A2EF-6A99482B50CB}" destId="{DD0F232F-2C28-4FBE-957B-A2F37C1525CE}" srcOrd="0" destOrd="0" presId="urn:microsoft.com/office/officeart/2005/8/layout/orgChart1"/>
    <dgm:cxn modelId="{5F1DBA86-1E18-4E04-AE8E-2F1D53BD445C}" type="presParOf" srcId="{74D0805A-1005-402F-A2EF-6A99482B50CB}" destId="{5C74F485-1BA1-4917-956D-52845A8E2125}" srcOrd="1" destOrd="0" presId="urn:microsoft.com/office/officeart/2005/8/layout/orgChart1"/>
    <dgm:cxn modelId="{5CBB83FC-2ED4-42BE-A71D-FBE8756A6C1B}" type="presParOf" srcId="{5C74F485-1BA1-4917-956D-52845A8E2125}" destId="{205C0E19-B7E4-4B13-AF10-B25B3139F9D5}" srcOrd="0" destOrd="0" presId="urn:microsoft.com/office/officeart/2005/8/layout/orgChart1"/>
    <dgm:cxn modelId="{C347AC38-3088-436D-A690-37D33DBD269C}" type="presParOf" srcId="{205C0E19-B7E4-4B13-AF10-B25B3139F9D5}" destId="{96175828-F05C-4C9A-9A20-8B0AA1D87511}" srcOrd="0" destOrd="0" presId="urn:microsoft.com/office/officeart/2005/8/layout/orgChart1"/>
    <dgm:cxn modelId="{7637F650-E962-4228-A728-D6ABFB5A5295}" type="presParOf" srcId="{205C0E19-B7E4-4B13-AF10-B25B3139F9D5}" destId="{85C9AE2A-5D19-4414-867F-A2B62BA3EF19}" srcOrd="1" destOrd="0" presId="urn:microsoft.com/office/officeart/2005/8/layout/orgChart1"/>
    <dgm:cxn modelId="{10653E98-9AC4-4A15-B629-7F066257B01D}" type="presParOf" srcId="{5C74F485-1BA1-4917-956D-52845A8E2125}" destId="{7B8A42D8-3CE3-4D36-95D5-A98F15E5F503}" srcOrd="1" destOrd="0" presId="urn:microsoft.com/office/officeart/2005/8/layout/orgChart1"/>
    <dgm:cxn modelId="{11D02E1D-F303-469F-9CA7-EA335F011A92}" type="presParOf" srcId="{7B8A42D8-3CE3-4D36-95D5-A98F15E5F503}" destId="{2A93D2A8-0B62-4D07-93CD-2872A1A735D0}" srcOrd="0" destOrd="0" presId="urn:microsoft.com/office/officeart/2005/8/layout/orgChart1"/>
    <dgm:cxn modelId="{CBEECA09-2128-43F9-9153-252E9D1F556F}" type="presParOf" srcId="{7B8A42D8-3CE3-4D36-95D5-A98F15E5F503}" destId="{68A8ED51-B0B9-4B7A-B680-C8FC2D4EB317}" srcOrd="1" destOrd="0" presId="urn:microsoft.com/office/officeart/2005/8/layout/orgChart1"/>
    <dgm:cxn modelId="{9B9520D6-CEAA-434F-8145-3D5D82B33CC9}" type="presParOf" srcId="{68A8ED51-B0B9-4B7A-B680-C8FC2D4EB317}" destId="{5292CF8D-2445-4F35-A263-8869B3D17108}" srcOrd="0" destOrd="0" presId="urn:microsoft.com/office/officeart/2005/8/layout/orgChart1"/>
    <dgm:cxn modelId="{7030F6D8-9C73-4ADE-A5D7-D6F0415A0077}" type="presParOf" srcId="{5292CF8D-2445-4F35-A263-8869B3D17108}" destId="{B1287D45-6FF8-41FF-A4A6-A9EA5C1AAB77}" srcOrd="0" destOrd="0" presId="urn:microsoft.com/office/officeart/2005/8/layout/orgChart1"/>
    <dgm:cxn modelId="{669AF9CE-0D9B-434F-9FF2-14CEDB0D1395}" type="presParOf" srcId="{5292CF8D-2445-4F35-A263-8869B3D17108}" destId="{7F69176B-AEA9-4624-9C3A-301703D69185}" srcOrd="1" destOrd="0" presId="urn:microsoft.com/office/officeart/2005/8/layout/orgChart1"/>
    <dgm:cxn modelId="{20986B3B-99C3-4C28-8594-2B521BCB3BCB}" type="presParOf" srcId="{68A8ED51-B0B9-4B7A-B680-C8FC2D4EB317}" destId="{AEC7A2D2-6D87-4F15-8704-3D0A63EEE7FE}" srcOrd="1" destOrd="0" presId="urn:microsoft.com/office/officeart/2005/8/layout/orgChart1"/>
    <dgm:cxn modelId="{08F08ED7-F28F-4EC9-B8AE-5CEBC154BC89}" type="presParOf" srcId="{68A8ED51-B0B9-4B7A-B680-C8FC2D4EB317}" destId="{B5700551-D751-4A5E-8B20-69A45A6A109B}" srcOrd="2" destOrd="0" presId="urn:microsoft.com/office/officeart/2005/8/layout/orgChart1"/>
    <dgm:cxn modelId="{460E57B1-94F7-445C-A8EB-AC983A4C2AC7}" type="presParOf" srcId="{7B8A42D8-3CE3-4D36-95D5-A98F15E5F503}" destId="{53773FB6-7EF9-4266-9FFC-98530EA6C636}" srcOrd="2" destOrd="0" presId="urn:microsoft.com/office/officeart/2005/8/layout/orgChart1"/>
    <dgm:cxn modelId="{52372F76-9A8C-45BB-9C81-405B97890AEA}" type="presParOf" srcId="{7B8A42D8-3CE3-4D36-95D5-A98F15E5F503}" destId="{06FD3C6C-2E20-4AEA-BCD5-E4E2D98A766E}" srcOrd="3" destOrd="0" presId="urn:microsoft.com/office/officeart/2005/8/layout/orgChart1"/>
    <dgm:cxn modelId="{DACE62C1-0947-4C3C-A3E9-FFA522043AE3}" type="presParOf" srcId="{06FD3C6C-2E20-4AEA-BCD5-E4E2D98A766E}" destId="{5A72C5FD-EF7E-4684-B8C6-C4D92C1984AF}" srcOrd="0" destOrd="0" presId="urn:microsoft.com/office/officeart/2005/8/layout/orgChart1"/>
    <dgm:cxn modelId="{35327146-D0A5-45B2-B5DE-1B18A284E23C}" type="presParOf" srcId="{5A72C5FD-EF7E-4684-B8C6-C4D92C1984AF}" destId="{8E4A5BDF-D463-4990-942E-6FA01D277F0F}" srcOrd="0" destOrd="0" presId="urn:microsoft.com/office/officeart/2005/8/layout/orgChart1"/>
    <dgm:cxn modelId="{DC57BBB4-EA77-44B1-9391-84D5919B6F7E}" type="presParOf" srcId="{5A72C5FD-EF7E-4684-B8C6-C4D92C1984AF}" destId="{59BF214F-7A9B-41BA-BEEA-571AA9E7B770}" srcOrd="1" destOrd="0" presId="urn:microsoft.com/office/officeart/2005/8/layout/orgChart1"/>
    <dgm:cxn modelId="{EE6FA09D-9B6E-4350-8CB2-4CD7B033C56B}" type="presParOf" srcId="{06FD3C6C-2E20-4AEA-BCD5-E4E2D98A766E}" destId="{3FBF966C-C6B4-4A09-A1B5-9437C11F3EAC}" srcOrd="1" destOrd="0" presId="urn:microsoft.com/office/officeart/2005/8/layout/orgChart1"/>
    <dgm:cxn modelId="{0BA104AD-6069-4477-B525-1654FDE7C860}" type="presParOf" srcId="{06FD3C6C-2E20-4AEA-BCD5-E4E2D98A766E}" destId="{8E14B6E0-58CC-420F-8BD5-44B838FA63D9}" srcOrd="2" destOrd="0" presId="urn:microsoft.com/office/officeart/2005/8/layout/orgChart1"/>
    <dgm:cxn modelId="{022A153A-6E5C-47AD-8943-6527E51D23CD}" type="presParOf" srcId="{5C74F485-1BA1-4917-956D-52845A8E2125}" destId="{2C70804C-A83E-4AAA-AE47-AC824BBF3F9F}" srcOrd="2" destOrd="0" presId="urn:microsoft.com/office/officeart/2005/8/layout/orgChart1"/>
    <dgm:cxn modelId="{65DD8D97-9940-488B-8885-2F8051B4D517}" type="presParOf" srcId="{F85D79AA-8BA6-4531-81CD-3DCDDE73F6D6}" destId="{93510AE5-318A-4F4D-B493-3109F44CAB73}" srcOrd="2" destOrd="0" presId="urn:microsoft.com/office/officeart/2005/8/layout/orgChart1"/>
    <dgm:cxn modelId="{A4706A6C-CDA4-4ED0-B2C0-6EA06277E508}" type="presParOf" srcId="{A2122E95-C7B0-40BE-978D-70EC32B05E59}" destId="{66CA087A-5D03-48AC-A9E6-9A0CB6D3D496}" srcOrd="4" destOrd="0" presId="urn:microsoft.com/office/officeart/2005/8/layout/orgChart1"/>
    <dgm:cxn modelId="{13DA68E7-F9D3-4A9E-B8DC-31496B44A51C}" type="presParOf" srcId="{A2122E95-C7B0-40BE-978D-70EC32B05E59}" destId="{11E46704-776C-4591-A17E-8B88443F64FA}" srcOrd="5" destOrd="0" presId="urn:microsoft.com/office/officeart/2005/8/layout/orgChart1"/>
    <dgm:cxn modelId="{E82103B3-3E00-4479-B2EB-0B64A988F643}" type="presParOf" srcId="{11E46704-776C-4591-A17E-8B88443F64FA}" destId="{BCC0878A-213A-42A7-9FC4-5149A81EBA53}" srcOrd="0" destOrd="0" presId="urn:microsoft.com/office/officeart/2005/8/layout/orgChart1"/>
    <dgm:cxn modelId="{866F6593-05D6-447B-A267-3CDA440F0988}" type="presParOf" srcId="{BCC0878A-213A-42A7-9FC4-5149A81EBA53}" destId="{9E09FB55-CD6F-4604-9B31-0B7B45CFDB00}" srcOrd="0" destOrd="0" presId="urn:microsoft.com/office/officeart/2005/8/layout/orgChart1"/>
    <dgm:cxn modelId="{B900B338-55C4-4640-BBAD-44E6067DE021}" type="presParOf" srcId="{BCC0878A-213A-42A7-9FC4-5149A81EBA53}" destId="{1FA245CC-5936-4C0E-A175-5A5CA2C74FD2}" srcOrd="1" destOrd="0" presId="urn:microsoft.com/office/officeart/2005/8/layout/orgChart1"/>
    <dgm:cxn modelId="{9314A6BD-B3FF-42C3-A6F9-C1068705150D}" type="presParOf" srcId="{11E46704-776C-4591-A17E-8B88443F64FA}" destId="{1E2E761E-8E1C-4593-B211-11D2E609BE13}" srcOrd="1" destOrd="0" presId="urn:microsoft.com/office/officeart/2005/8/layout/orgChart1"/>
    <dgm:cxn modelId="{5F60F4F3-F812-4B75-857F-0937334716B3}" type="presParOf" srcId="{1E2E761E-8E1C-4593-B211-11D2E609BE13}" destId="{378D118F-492E-497A-BC64-4C1494A935A0}" srcOrd="0" destOrd="0" presId="urn:microsoft.com/office/officeart/2005/8/layout/orgChart1"/>
    <dgm:cxn modelId="{43C84E1A-7F39-4B24-BF1D-23FB7B642D2E}" type="presParOf" srcId="{1E2E761E-8E1C-4593-B211-11D2E609BE13}" destId="{844C87D7-B5EE-47B4-8D2D-E36C2255039A}" srcOrd="1" destOrd="0" presId="urn:microsoft.com/office/officeart/2005/8/layout/orgChart1"/>
    <dgm:cxn modelId="{3E4380B5-38B2-4E84-989C-421F8A3C399A}" type="presParOf" srcId="{844C87D7-B5EE-47B4-8D2D-E36C2255039A}" destId="{2220A92C-EE13-4BB6-B903-CE60FEF67D29}" srcOrd="0" destOrd="0" presId="urn:microsoft.com/office/officeart/2005/8/layout/orgChart1"/>
    <dgm:cxn modelId="{8799F229-C70E-42F1-BFAC-C5EA0A8047C1}" type="presParOf" srcId="{2220A92C-EE13-4BB6-B903-CE60FEF67D29}" destId="{1CA9EF1D-1D05-44D8-9725-9B77682407D5}" srcOrd="0" destOrd="0" presId="urn:microsoft.com/office/officeart/2005/8/layout/orgChart1"/>
    <dgm:cxn modelId="{F4E9B778-B632-4B61-9397-74B760F9DB98}" type="presParOf" srcId="{2220A92C-EE13-4BB6-B903-CE60FEF67D29}" destId="{E891AF91-81C6-489C-A4AA-9CC495B8EE6D}" srcOrd="1" destOrd="0" presId="urn:microsoft.com/office/officeart/2005/8/layout/orgChart1"/>
    <dgm:cxn modelId="{243D8C19-86D3-4D46-8360-D5D0E023ED95}" type="presParOf" srcId="{844C87D7-B5EE-47B4-8D2D-E36C2255039A}" destId="{31D1F214-138D-4496-9257-0496C5656056}" srcOrd="1" destOrd="0" presId="urn:microsoft.com/office/officeart/2005/8/layout/orgChart1"/>
    <dgm:cxn modelId="{44B8BB54-8D59-4108-8F9F-26111309AB14}" type="presParOf" srcId="{844C87D7-B5EE-47B4-8D2D-E36C2255039A}" destId="{3814B009-FCC1-4F03-BC0A-67FD3D0E3ED5}" srcOrd="2" destOrd="0" presId="urn:microsoft.com/office/officeart/2005/8/layout/orgChart1"/>
    <dgm:cxn modelId="{B4D5286A-DC44-4A4A-A6E7-5CE64006B02C}" type="presParOf" srcId="{11E46704-776C-4591-A17E-8B88443F64FA}" destId="{177CB9CD-D344-4ECF-B2E0-0689382B61C2}" srcOrd="2" destOrd="0" presId="urn:microsoft.com/office/officeart/2005/8/layout/orgChart1"/>
    <dgm:cxn modelId="{C93FDDF2-A53C-401B-84EA-BE791BEA087E}" type="presParOf" srcId="{BC743BC3-652F-403A-B3DD-10B5A711C55A}" destId="{2C7427D7-C8BB-4D6D-B859-E0125CADDA7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8D118F-492E-497A-BC64-4C1494A935A0}">
      <dsp:nvSpPr>
        <dsp:cNvPr id="0" name=""/>
        <dsp:cNvSpPr/>
      </dsp:nvSpPr>
      <dsp:spPr>
        <a:xfrm>
          <a:off x="5037620" y="1843098"/>
          <a:ext cx="202491" cy="620973"/>
        </a:xfrm>
        <a:custGeom>
          <a:avLst/>
          <a:gdLst/>
          <a:ahLst/>
          <a:cxnLst/>
          <a:rect l="0" t="0" r="0" b="0"/>
          <a:pathLst>
            <a:path>
              <a:moveTo>
                <a:pt x="0" y="0"/>
              </a:moveTo>
              <a:lnTo>
                <a:pt x="0" y="620973"/>
              </a:lnTo>
              <a:lnTo>
                <a:pt x="202491" y="620973"/>
              </a:lnTo>
            </a:path>
          </a:pathLst>
        </a:custGeom>
        <a:noFill/>
        <a:ln w="12700" cap="flat" cmpd="sng" algn="ctr">
          <a:solidFill>
            <a:schemeClr val="accent2">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CA087A-5D03-48AC-A9E6-9A0CB6D3D496}">
      <dsp:nvSpPr>
        <dsp:cNvPr id="0" name=""/>
        <dsp:cNvSpPr/>
      </dsp:nvSpPr>
      <dsp:spPr>
        <a:xfrm>
          <a:off x="3535808" y="884639"/>
          <a:ext cx="2041788" cy="283487"/>
        </a:xfrm>
        <a:custGeom>
          <a:avLst/>
          <a:gdLst/>
          <a:ahLst/>
          <a:cxnLst/>
          <a:rect l="0" t="0" r="0" b="0"/>
          <a:pathLst>
            <a:path>
              <a:moveTo>
                <a:pt x="0" y="0"/>
              </a:moveTo>
              <a:lnTo>
                <a:pt x="0" y="141743"/>
              </a:lnTo>
              <a:lnTo>
                <a:pt x="2041788" y="141743"/>
              </a:lnTo>
              <a:lnTo>
                <a:pt x="2041788" y="283487"/>
              </a:lnTo>
            </a:path>
          </a:pathLst>
        </a:custGeom>
        <a:noFill/>
        <a:ln w="12700" cap="flat" cmpd="sng" algn="ctr">
          <a:solidFill>
            <a:schemeClr val="accent2">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773FB6-7EF9-4266-9FFC-98530EA6C636}">
      <dsp:nvSpPr>
        <dsp:cNvPr id="0" name=""/>
        <dsp:cNvSpPr/>
      </dsp:nvSpPr>
      <dsp:spPr>
        <a:xfrm>
          <a:off x="3404189" y="2801557"/>
          <a:ext cx="202491" cy="1579432"/>
        </a:xfrm>
        <a:custGeom>
          <a:avLst/>
          <a:gdLst/>
          <a:ahLst/>
          <a:cxnLst/>
          <a:rect l="0" t="0" r="0" b="0"/>
          <a:pathLst>
            <a:path>
              <a:moveTo>
                <a:pt x="0" y="0"/>
              </a:moveTo>
              <a:lnTo>
                <a:pt x="0" y="1579432"/>
              </a:lnTo>
              <a:lnTo>
                <a:pt x="202491" y="1579432"/>
              </a:lnTo>
            </a:path>
          </a:pathLst>
        </a:custGeom>
        <a:no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93D2A8-0B62-4D07-93CD-2872A1A735D0}">
      <dsp:nvSpPr>
        <dsp:cNvPr id="0" name=""/>
        <dsp:cNvSpPr/>
      </dsp:nvSpPr>
      <dsp:spPr>
        <a:xfrm>
          <a:off x="3404189" y="2801557"/>
          <a:ext cx="202491" cy="620973"/>
        </a:xfrm>
        <a:custGeom>
          <a:avLst/>
          <a:gdLst/>
          <a:ahLst/>
          <a:cxnLst/>
          <a:rect l="0" t="0" r="0" b="0"/>
          <a:pathLst>
            <a:path>
              <a:moveTo>
                <a:pt x="0" y="0"/>
              </a:moveTo>
              <a:lnTo>
                <a:pt x="0" y="620973"/>
              </a:lnTo>
              <a:lnTo>
                <a:pt x="202491" y="620973"/>
              </a:lnTo>
            </a:path>
          </a:pathLst>
        </a:custGeom>
        <a:no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0F232F-2C28-4FBE-957B-A2F37C1525CE}">
      <dsp:nvSpPr>
        <dsp:cNvPr id="0" name=""/>
        <dsp:cNvSpPr/>
      </dsp:nvSpPr>
      <dsp:spPr>
        <a:xfrm>
          <a:off x="3898446" y="1843098"/>
          <a:ext cx="91440" cy="283487"/>
        </a:xfrm>
        <a:custGeom>
          <a:avLst/>
          <a:gdLst/>
          <a:ahLst/>
          <a:cxnLst/>
          <a:rect l="0" t="0" r="0" b="0"/>
          <a:pathLst>
            <a:path>
              <a:moveTo>
                <a:pt x="45720" y="0"/>
              </a:moveTo>
              <a:lnTo>
                <a:pt x="45720" y="283487"/>
              </a:lnTo>
            </a:path>
          </a:pathLst>
        </a:custGeom>
        <a:noFill/>
        <a:ln w="12700" cap="flat" cmpd="sng" algn="ctr">
          <a:solidFill>
            <a:schemeClr val="accent2">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9F08E4-43E3-4D23-A553-F6671F57FC23}">
      <dsp:nvSpPr>
        <dsp:cNvPr id="0" name=""/>
        <dsp:cNvSpPr/>
      </dsp:nvSpPr>
      <dsp:spPr>
        <a:xfrm>
          <a:off x="3535808" y="884639"/>
          <a:ext cx="408357" cy="283487"/>
        </a:xfrm>
        <a:custGeom>
          <a:avLst/>
          <a:gdLst/>
          <a:ahLst/>
          <a:cxnLst/>
          <a:rect l="0" t="0" r="0" b="0"/>
          <a:pathLst>
            <a:path>
              <a:moveTo>
                <a:pt x="0" y="0"/>
              </a:moveTo>
              <a:lnTo>
                <a:pt x="0" y="141743"/>
              </a:lnTo>
              <a:lnTo>
                <a:pt x="408357" y="141743"/>
              </a:lnTo>
              <a:lnTo>
                <a:pt x="408357" y="283487"/>
              </a:lnTo>
            </a:path>
          </a:pathLst>
        </a:custGeom>
        <a:noFill/>
        <a:ln w="12700" cap="flat" cmpd="sng" algn="ctr">
          <a:solidFill>
            <a:schemeClr val="accent2">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4BF273-62F2-4F0B-812F-9DB8D14A1E0B}">
      <dsp:nvSpPr>
        <dsp:cNvPr id="0" name=""/>
        <dsp:cNvSpPr/>
      </dsp:nvSpPr>
      <dsp:spPr>
        <a:xfrm>
          <a:off x="1770758" y="2801557"/>
          <a:ext cx="202491" cy="620973"/>
        </a:xfrm>
        <a:custGeom>
          <a:avLst/>
          <a:gdLst/>
          <a:ahLst/>
          <a:cxnLst/>
          <a:rect l="0" t="0" r="0" b="0"/>
          <a:pathLst>
            <a:path>
              <a:moveTo>
                <a:pt x="0" y="0"/>
              </a:moveTo>
              <a:lnTo>
                <a:pt x="0" y="620973"/>
              </a:lnTo>
              <a:lnTo>
                <a:pt x="202491" y="620973"/>
              </a:lnTo>
            </a:path>
          </a:pathLst>
        </a:custGeom>
        <a:no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C018FB-0456-4242-B043-C01C5FB89F32}">
      <dsp:nvSpPr>
        <dsp:cNvPr id="0" name=""/>
        <dsp:cNvSpPr/>
      </dsp:nvSpPr>
      <dsp:spPr>
        <a:xfrm>
          <a:off x="1494020" y="1843098"/>
          <a:ext cx="816715" cy="283487"/>
        </a:xfrm>
        <a:custGeom>
          <a:avLst/>
          <a:gdLst/>
          <a:ahLst/>
          <a:cxnLst/>
          <a:rect l="0" t="0" r="0" b="0"/>
          <a:pathLst>
            <a:path>
              <a:moveTo>
                <a:pt x="0" y="0"/>
              </a:moveTo>
              <a:lnTo>
                <a:pt x="0" y="141743"/>
              </a:lnTo>
              <a:lnTo>
                <a:pt x="816715" y="141743"/>
              </a:lnTo>
              <a:lnTo>
                <a:pt x="816715" y="283487"/>
              </a:lnTo>
            </a:path>
          </a:pathLst>
        </a:custGeom>
        <a:noFill/>
        <a:ln w="12700" cap="flat" cmpd="sng" algn="ctr">
          <a:solidFill>
            <a:schemeClr val="accent2">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FE5A30-A23E-4ED4-941C-D8A09C3381FF}">
      <dsp:nvSpPr>
        <dsp:cNvPr id="0" name=""/>
        <dsp:cNvSpPr/>
      </dsp:nvSpPr>
      <dsp:spPr>
        <a:xfrm>
          <a:off x="137328" y="2801557"/>
          <a:ext cx="202491" cy="620973"/>
        </a:xfrm>
        <a:custGeom>
          <a:avLst/>
          <a:gdLst/>
          <a:ahLst/>
          <a:cxnLst/>
          <a:rect l="0" t="0" r="0" b="0"/>
          <a:pathLst>
            <a:path>
              <a:moveTo>
                <a:pt x="0" y="0"/>
              </a:moveTo>
              <a:lnTo>
                <a:pt x="0" y="620973"/>
              </a:lnTo>
              <a:lnTo>
                <a:pt x="202491" y="620973"/>
              </a:lnTo>
            </a:path>
          </a:pathLst>
        </a:custGeom>
        <a:no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44B1A1-A688-4D7D-8F68-9CF90D262F6D}">
      <dsp:nvSpPr>
        <dsp:cNvPr id="0" name=""/>
        <dsp:cNvSpPr/>
      </dsp:nvSpPr>
      <dsp:spPr>
        <a:xfrm>
          <a:off x="677305" y="1843098"/>
          <a:ext cx="816715" cy="283487"/>
        </a:xfrm>
        <a:custGeom>
          <a:avLst/>
          <a:gdLst/>
          <a:ahLst/>
          <a:cxnLst/>
          <a:rect l="0" t="0" r="0" b="0"/>
          <a:pathLst>
            <a:path>
              <a:moveTo>
                <a:pt x="816715" y="0"/>
              </a:moveTo>
              <a:lnTo>
                <a:pt x="816715" y="141743"/>
              </a:lnTo>
              <a:lnTo>
                <a:pt x="0" y="141743"/>
              </a:lnTo>
              <a:lnTo>
                <a:pt x="0" y="283487"/>
              </a:lnTo>
            </a:path>
          </a:pathLst>
        </a:custGeom>
        <a:noFill/>
        <a:ln w="12700" cap="flat" cmpd="sng" algn="ctr">
          <a:solidFill>
            <a:schemeClr val="accent2">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87CD7B-211D-43B6-826B-3DA3C8E231F6}">
      <dsp:nvSpPr>
        <dsp:cNvPr id="0" name=""/>
        <dsp:cNvSpPr/>
      </dsp:nvSpPr>
      <dsp:spPr>
        <a:xfrm>
          <a:off x="1494020" y="884639"/>
          <a:ext cx="2041788" cy="283487"/>
        </a:xfrm>
        <a:custGeom>
          <a:avLst/>
          <a:gdLst/>
          <a:ahLst/>
          <a:cxnLst/>
          <a:rect l="0" t="0" r="0" b="0"/>
          <a:pathLst>
            <a:path>
              <a:moveTo>
                <a:pt x="2041788" y="0"/>
              </a:moveTo>
              <a:lnTo>
                <a:pt x="2041788" y="141743"/>
              </a:lnTo>
              <a:lnTo>
                <a:pt x="0" y="141743"/>
              </a:lnTo>
              <a:lnTo>
                <a:pt x="0" y="283487"/>
              </a:lnTo>
            </a:path>
          </a:pathLst>
        </a:custGeom>
        <a:noFill/>
        <a:ln w="12700" cap="flat" cmpd="sng" algn="ctr">
          <a:solidFill>
            <a:schemeClr val="accent2">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5AE4D4-FE81-4223-833C-050132E5FC8D}">
      <dsp:nvSpPr>
        <dsp:cNvPr id="0" name=""/>
        <dsp:cNvSpPr/>
      </dsp:nvSpPr>
      <dsp:spPr>
        <a:xfrm>
          <a:off x="2860837" y="209667"/>
          <a:ext cx="1349942" cy="674971"/>
        </a:xfrm>
        <a:prstGeom prst="rect">
          <a:avLst/>
        </a:prstGeom>
        <a:solidFill>
          <a:schemeClr val="accent2">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Data</a:t>
          </a:r>
        </a:p>
        <a:p>
          <a:pPr marL="0" lvl="0" indent="0" algn="ctr" defTabSz="400050">
            <a:lnSpc>
              <a:spcPct val="90000"/>
            </a:lnSpc>
            <a:spcBef>
              <a:spcPct val="0"/>
            </a:spcBef>
            <a:spcAft>
              <a:spcPct val="35000"/>
            </a:spcAft>
            <a:buNone/>
          </a:pPr>
          <a:r>
            <a:rPr lang="en-US" sz="900" b="1" i="1" kern="1200" dirty="0"/>
            <a:t>- 6477 rows</a:t>
          </a:r>
        </a:p>
        <a:p>
          <a:pPr marL="0" lvl="0" indent="0" algn="ctr" defTabSz="400050">
            <a:lnSpc>
              <a:spcPct val="90000"/>
            </a:lnSpc>
            <a:spcBef>
              <a:spcPct val="0"/>
            </a:spcBef>
            <a:spcAft>
              <a:spcPct val="35000"/>
            </a:spcAft>
            <a:buNone/>
          </a:pPr>
          <a:r>
            <a:rPr lang="en-US" sz="900" b="1" i="1" kern="1200" dirty="0"/>
            <a:t>- 12 columns</a:t>
          </a:r>
        </a:p>
      </dsp:txBody>
      <dsp:txXfrm>
        <a:off x="2860837" y="209667"/>
        <a:ext cx="1349942" cy="674971"/>
      </dsp:txXfrm>
    </dsp:sp>
    <dsp:sp modelId="{435C5C73-FB77-46BD-A2AB-8C56A39CCA24}">
      <dsp:nvSpPr>
        <dsp:cNvPr id="0" name=""/>
        <dsp:cNvSpPr/>
      </dsp:nvSpPr>
      <dsp:spPr>
        <a:xfrm>
          <a:off x="819049" y="1168126"/>
          <a:ext cx="1349942" cy="674971"/>
        </a:xfrm>
        <a:prstGeom prst="rect">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Scrapped Data</a:t>
          </a:r>
        </a:p>
      </dsp:txBody>
      <dsp:txXfrm>
        <a:off x="819049" y="1168126"/>
        <a:ext cx="1349942" cy="674971"/>
      </dsp:txXfrm>
    </dsp:sp>
    <dsp:sp modelId="{09F79986-6E17-41FC-8C0A-D38CBF380E26}">
      <dsp:nvSpPr>
        <dsp:cNvPr id="0" name=""/>
        <dsp:cNvSpPr/>
      </dsp:nvSpPr>
      <dsp:spPr>
        <a:xfrm>
          <a:off x="2333" y="2126586"/>
          <a:ext cx="1349942" cy="674971"/>
        </a:xfrm>
        <a:prstGeom prst="rect">
          <a:avLst/>
        </a:prstGeom>
        <a:solidFill>
          <a:schemeClr val="accent2">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HUDUSER</a:t>
          </a:r>
        </a:p>
      </dsp:txBody>
      <dsp:txXfrm>
        <a:off x="2333" y="2126586"/>
        <a:ext cx="1349942" cy="674971"/>
      </dsp:txXfrm>
    </dsp:sp>
    <dsp:sp modelId="{243E1AE7-4C70-444D-B073-52369E599DF3}">
      <dsp:nvSpPr>
        <dsp:cNvPr id="0" name=""/>
        <dsp:cNvSpPr/>
      </dsp:nvSpPr>
      <dsp:spPr>
        <a:xfrm>
          <a:off x="339819" y="3085045"/>
          <a:ext cx="1349942" cy="674971"/>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Rent Inflation Data </a:t>
          </a:r>
        </a:p>
        <a:p>
          <a:pPr marL="0" lvl="0" indent="0" algn="ctr" defTabSz="400050">
            <a:lnSpc>
              <a:spcPct val="90000"/>
            </a:lnSpc>
            <a:spcBef>
              <a:spcPct val="0"/>
            </a:spcBef>
            <a:spcAft>
              <a:spcPct val="35000"/>
            </a:spcAft>
            <a:buNone/>
          </a:pPr>
          <a:r>
            <a:rPr lang="en-US" sz="900" b="1" kern="1200" dirty="0"/>
            <a:t>- </a:t>
          </a:r>
          <a:r>
            <a:rPr lang="en-US" sz="900" b="1" i="1" kern="1200" dirty="0"/>
            <a:t>115,209 rows </a:t>
          </a:r>
        </a:p>
        <a:p>
          <a:pPr marL="0" lvl="0" indent="0" algn="ctr" defTabSz="400050">
            <a:lnSpc>
              <a:spcPct val="90000"/>
            </a:lnSpc>
            <a:spcBef>
              <a:spcPct val="0"/>
            </a:spcBef>
            <a:spcAft>
              <a:spcPct val="35000"/>
            </a:spcAft>
            <a:buNone/>
          </a:pPr>
          <a:r>
            <a:rPr lang="en-US" sz="900" b="1" i="1" kern="1200" dirty="0"/>
            <a:t>- 40 columns</a:t>
          </a:r>
        </a:p>
      </dsp:txBody>
      <dsp:txXfrm>
        <a:off x="339819" y="3085045"/>
        <a:ext cx="1349942" cy="674971"/>
      </dsp:txXfrm>
    </dsp:sp>
    <dsp:sp modelId="{B6A82E9A-F2E0-4A35-B59D-B91D038778A1}">
      <dsp:nvSpPr>
        <dsp:cNvPr id="0" name=""/>
        <dsp:cNvSpPr/>
      </dsp:nvSpPr>
      <dsp:spPr>
        <a:xfrm>
          <a:off x="1635764" y="2126586"/>
          <a:ext cx="1349942" cy="674971"/>
        </a:xfrm>
        <a:prstGeom prst="rect">
          <a:avLst/>
        </a:prstGeom>
        <a:solidFill>
          <a:schemeClr val="accent2">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FRED</a:t>
          </a:r>
        </a:p>
      </dsp:txBody>
      <dsp:txXfrm>
        <a:off x="1635764" y="2126586"/>
        <a:ext cx="1349942" cy="674971"/>
      </dsp:txXfrm>
    </dsp:sp>
    <dsp:sp modelId="{418DC575-0959-4C1C-8CBE-87AEE66B90A8}">
      <dsp:nvSpPr>
        <dsp:cNvPr id="0" name=""/>
        <dsp:cNvSpPr/>
      </dsp:nvSpPr>
      <dsp:spPr>
        <a:xfrm>
          <a:off x="1973250" y="3085045"/>
          <a:ext cx="1349942" cy="674971"/>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Investment Data for USA </a:t>
          </a:r>
        </a:p>
        <a:p>
          <a:pPr marL="0" lvl="0" indent="0" algn="ctr" defTabSz="400050">
            <a:lnSpc>
              <a:spcPct val="90000"/>
            </a:lnSpc>
            <a:spcBef>
              <a:spcPct val="0"/>
            </a:spcBef>
            <a:spcAft>
              <a:spcPct val="35000"/>
            </a:spcAft>
            <a:buNone/>
          </a:pPr>
          <a:r>
            <a:rPr lang="en-US" sz="900" b="1" i="1" kern="1200" dirty="0"/>
            <a:t>- 316 rows </a:t>
          </a:r>
        </a:p>
        <a:p>
          <a:pPr marL="0" lvl="0" indent="0" algn="ctr" defTabSz="400050">
            <a:lnSpc>
              <a:spcPct val="90000"/>
            </a:lnSpc>
            <a:spcBef>
              <a:spcPct val="0"/>
            </a:spcBef>
            <a:spcAft>
              <a:spcPct val="35000"/>
            </a:spcAft>
            <a:buNone/>
          </a:pPr>
          <a:r>
            <a:rPr lang="en-US" sz="900" b="1" i="1" kern="1200" dirty="0"/>
            <a:t>- 2 columns</a:t>
          </a:r>
        </a:p>
      </dsp:txBody>
      <dsp:txXfrm>
        <a:off x="1973250" y="3085045"/>
        <a:ext cx="1349942" cy="674971"/>
      </dsp:txXfrm>
    </dsp:sp>
    <dsp:sp modelId="{9348FF4D-7B72-4725-B724-E4795A7F6F3B}">
      <dsp:nvSpPr>
        <dsp:cNvPr id="0" name=""/>
        <dsp:cNvSpPr/>
      </dsp:nvSpPr>
      <dsp:spPr>
        <a:xfrm>
          <a:off x="3269195" y="1168126"/>
          <a:ext cx="1349942" cy="674971"/>
        </a:xfrm>
        <a:prstGeom prst="rect">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API Data</a:t>
          </a:r>
        </a:p>
      </dsp:txBody>
      <dsp:txXfrm>
        <a:off x="3269195" y="1168126"/>
        <a:ext cx="1349942" cy="674971"/>
      </dsp:txXfrm>
    </dsp:sp>
    <dsp:sp modelId="{96175828-F05C-4C9A-9A20-8B0AA1D87511}">
      <dsp:nvSpPr>
        <dsp:cNvPr id="0" name=""/>
        <dsp:cNvSpPr/>
      </dsp:nvSpPr>
      <dsp:spPr>
        <a:xfrm>
          <a:off x="3269195" y="2126586"/>
          <a:ext cx="1349942" cy="674971"/>
        </a:xfrm>
        <a:prstGeom prst="rect">
          <a:avLst/>
        </a:prstGeom>
        <a:solidFill>
          <a:schemeClr val="accent2">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Bureau of Economic Analysis API</a:t>
          </a:r>
        </a:p>
      </dsp:txBody>
      <dsp:txXfrm>
        <a:off x="3269195" y="2126586"/>
        <a:ext cx="1349942" cy="674971"/>
      </dsp:txXfrm>
    </dsp:sp>
    <dsp:sp modelId="{B1287D45-6FF8-41FF-A4A6-A9EA5C1AAB77}">
      <dsp:nvSpPr>
        <dsp:cNvPr id="0" name=""/>
        <dsp:cNvSpPr/>
      </dsp:nvSpPr>
      <dsp:spPr>
        <a:xfrm>
          <a:off x="3606680" y="3085045"/>
          <a:ext cx="1349942" cy="674971"/>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Investment Data per County</a:t>
          </a:r>
        </a:p>
        <a:p>
          <a:pPr marL="0" lvl="0" indent="0" algn="ctr" defTabSz="400050">
            <a:lnSpc>
              <a:spcPct val="90000"/>
            </a:lnSpc>
            <a:spcBef>
              <a:spcPct val="0"/>
            </a:spcBef>
            <a:spcAft>
              <a:spcPct val="35000"/>
            </a:spcAft>
            <a:buNone/>
          </a:pPr>
          <a:r>
            <a:rPr lang="en-US" sz="900" b="1" i="1" kern="1200" dirty="0"/>
            <a:t>- 75048 rows </a:t>
          </a:r>
        </a:p>
        <a:p>
          <a:pPr marL="0" lvl="0" indent="0" algn="ctr" defTabSz="400050">
            <a:lnSpc>
              <a:spcPct val="90000"/>
            </a:lnSpc>
            <a:spcBef>
              <a:spcPct val="0"/>
            </a:spcBef>
            <a:spcAft>
              <a:spcPct val="35000"/>
            </a:spcAft>
            <a:buNone/>
          </a:pPr>
          <a:r>
            <a:rPr lang="en-US" sz="900" b="1" i="1" kern="1200" dirty="0"/>
            <a:t>- 6 columns</a:t>
          </a:r>
        </a:p>
      </dsp:txBody>
      <dsp:txXfrm>
        <a:off x="3606680" y="3085045"/>
        <a:ext cx="1349942" cy="674971"/>
      </dsp:txXfrm>
    </dsp:sp>
    <dsp:sp modelId="{8E4A5BDF-D463-4990-942E-6FA01D277F0F}">
      <dsp:nvSpPr>
        <dsp:cNvPr id="0" name=""/>
        <dsp:cNvSpPr/>
      </dsp:nvSpPr>
      <dsp:spPr>
        <a:xfrm>
          <a:off x="3606680" y="4043504"/>
          <a:ext cx="1349942" cy="674971"/>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b="1" i="0" kern="1200" dirty="0"/>
            <a:t>Personal Income Data per County </a:t>
          </a:r>
          <a:r>
            <a:rPr lang="en-US" sz="900" b="1" i="1" kern="1200" dirty="0"/>
            <a:t>-  56682 rows – 6 column</a:t>
          </a:r>
        </a:p>
      </dsp:txBody>
      <dsp:txXfrm>
        <a:off x="3606680" y="4043504"/>
        <a:ext cx="1349942" cy="674971"/>
      </dsp:txXfrm>
    </dsp:sp>
    <dsp:sp modelId="{9E09FB55-CD6F-4604-9B31-0B7B45CFDB00}">
      <dsp:nvSpPr>
        <dsp:cNvPr id="0" name=""/>
        <dsp:cNvSpPr/>
      </dsp:nvSpPr>
      <dsp:spPr>
        <a:xfrm>
          <a:off x="4902625" y="1168126"/>
          <a:ext cx="1349942" cy="674971"/>
        </a:xfrm>
        <a:prstGeom prst="rect">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Census.gov API</a:t>
          </a:r>
        </a:p>
      </dsp:txBody>
      <dsp:txXfrm>
        <a:off x="4902625" y="1168126"/>
        <a:ext cx="1349942" cy="674971"/>
      </dsp:txXfrm>
    </dsp:sp>
    <dsp:sp modelId="{1CA9EF1D-1D05-44D8-9725-9B77682407D5}">
      <dsp:nvSpPr>
        <dsp:cNvPr id="0" name=""/>
        <dsp:cNvSpPr/>
      </dsp:nvSpPr>
      <dsp:spPr>
        <a:xfrm>
          <a:off x="5240111" y="2126586"/>
          <a:ext cx="1349942" cy="674971"/>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Total Housing Units</a:t>
          </a:r>
        </a:p>
        <a:p>
          <a:pPr marL="0" lvl="0" indent="0" algn="ctr" defTabSz="400050">
            <a:lnSpc>
              <a:spcPct val="90000"/>
            </a:lnSpc>
            <a:spcBef>
              <a:spcPct val="0"/>
            </a:spcBef>
            <a:spcAft>
              <a:spcPct val="35000"/>
            </a:spcAft>
            <a:buNone/>
          </a:pPr>
          <a:r>
            <a:rPr lang="en-US" sz="900" b="1" i="1" kern="1200" dirty="0"/>
            <a:t>- </a:t>
          </a:r>
          <a:r>
            <a:rPr lang="en-US" sz="900" b="0" i="0" kern="1200" dirty="0"/>
            <a:t>48311 </a:t>
          </a:r>
          <a:r>
            <a:rPr lang="en-US" sz="900" b="1" i="1" kern="1200" dirty="0"/>
            <a:t>rows </a:t>
          </a:r>
        </a:p>
        <a:p>
          <a:pPr marL="0" lvl="0" indent="0" algn="ctr" defTabSz="400050">
            <a:lnSpc>
              <a:spcPct val="90000"/>
            </a:lnSpc>
            <a:spcBef>
              <a:spcPct val="0"/>
            </a:spcBef>
            <a:spcAft>
              <a:spcPct val="35000"/>
            </a:spcAft>
            <a:buNone/>
          </a:pPr>
          <a:r>
            <a:rPr lang="en-US" sz="900" b="1" i="1" kern="1200" dirty="0"/>
            <a:t>- 5 columns</a:t>
          </a:r>
          <a:endParaRPr lang="en-US" sz="900" kern="1200" dirty="0"/>
        </a:p>
      </dsp:txBody>
      <dsp:txXfrm>
        <a:off x="5240111" y="2126586"/>
        <a:ext cx="1349942" cy="67497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63EF1A-1CDB-4D97-B2E9-4EF9BB46C995}"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D4C703-7C06-47B9-A854-8738BA5ED12A}" type="slidenum">
              <a:rPr lang="en-US" smtClean="0"/>
              <a:t>‹#›</a:t>
            </a:fld>
            <a:endParaRPr lang="en-US"/>
          </a:p>
        </p:txBody>
      </p:sp>
    </p:spTree>
    <p:extLst>
      <p:ext uri="{BB962C8B-B14F-4D97-AF65-F5344CB8AC3E}">
        <p14:creationId xmlns:p14="http://schemas.microsoft.com/office/powerpoint/2010/main" val="3998633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D4C703-7C06-47B9-A854-8738BA5ED12A}" type="slidenum">
              <a:rPr lang="en-US" smtClean="0"/>
              <a:t>8</a:t>
            </a:fld>
            <a:endParaRPr lang="en-US"/>
          </a:p>
        </p:txBody>
      </p:sp>
    </p:spTree>
    <p:extLst>
      <p:ext uri="{BB962C8B-B14F-4D97-AF65-F5344CB8AC3E}">
        <p14:creationId xmlns:p14="http://schemas.microsoft.com/office/powerpoint/2010/main" val="1386467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D4C703-7C06-47B9-A854-8738BA5ED12A}" type="slidenum">
              <a:rPr lang="en-US" smtClean="0"/>
              <a:t>16</a:t>
            </a:fld>
            <a:endParaRPr lang="en-US"/>
          </a:p>
        </p:txBody>
      </p:sp>
    </p:spTree>
    <p:extLst>
      <p:ext uri="{BB962C8B-B14F-4D97-AF65-F5344CB8AC3E}">
        <p14:creationId xmlns:p14="http://schemas.microsoft.com/office/powerpoint/2010/main" val="2368338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D4C703-7C06-47B9-A854-8738BA5ED12A}" type="slidenum">
              <a:rPr lang="en-US" smtClean="0"/>
              <a:t>18</a:t>
            </a:fld>
            <a:endParaRPr lang="en-US"/>
          </a:p>
        </p:txBody>
      </p:sp>
    </p:spTree>
    <p:extLst>
      <p:ext uri="{BB962C8B-B14F-4D97-AF65-F5344CB8AC3E}">
        <p14:creationId xmlns:p14="http://schemas.microsoft.com/office/powerpoint/2010/main" val="4117844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CCA93-5514-4875-BFF7-5007D2F189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D2A317-041A-4EA7-A3C0-7E2857FE14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B0941B-ACB6-471B-895A-996C7B2A9627}"/>
              </a:ext>
            </a:extLst>
          </p:cNvPr>
          <p:cNvSpPr>
            <a:spLocks noGrp="1"/>
          </p:cNvSpPr>
          <p:nvPr>
            <p:ph type="dt" sz="half" idx="10"/>
          </p:nvPr>
        </p:nvSpPr>
        <p:spPr/>
        <p:txBody>
          <a:bodyPr/>
          <a:lstStyle/>
          <a:p>
            <a:fld id="{7907B1C3-3B4E-4E9D-9D92-143137DA21B7}" type="datetime1">
              <a:rPr lang="en-US" smtClean="0"/>
              <a:t>6/2/2026</a:t>
            </a:fld>
            <a:endParaRPr lang="en-US"/>
          </a:p>
        </p:txBody>
      </p:sp>
      <p:sp>
        <p:nvSpPr>
          <p:cNvPr id="5" name="Footer Placeholder 4">
            <a:extLst>
              <a:ext uri="{FF2B5EF4-FFF2-40B4-BE49-F238E27FC236}">
                <a16:creationId xmlns:a16="http://schemas.microsoft.com/office/drawing/2014/main" id="{877D5FAB-D02B-4B6A-B818-9A69390E62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EAD472-A0C3-45E2-A617-07B885CC3BA4}"/>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3479259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84B96-03EB-4223-BD98-DC7B563C27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64C5E6-D6F6-4997-9439-797CFDF310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7F2EDC-AF8F-48BD-A7F6-661B1D4D3C92}"/>
              </a:ext>
            </a:extLst>
          </p:cNvPr>
          <p:cNvSpPr>
            <a:spLocks noGrp="1"/>
          </p:cNvSpPr>
          <p:nvPr>
            <p:ph type="dt" sz="half" idx="10"/>
          </p:nvPr>
        </p:nvSpPr>
        <p:spPr/>
        <p:txBody>
          <a:bodyPr/>
          <a:lstStyle/>
          <a:p>
            <a:fld id="{9AED9BA1-B849-43F1-A54B-B7DF552F5227}" type="datetime1">
              <a:rPr lang="en-US" smtClean="0"/>
              <a:t>6/2/2026</a:t>
            </a:fld>
            <a:endParaRPr lang="en-US"/>
          </a:p>
        </p:txBody>
      </p:sp>
      <p:sp>
        <p:nvSpPr>
          <p:cNvPr id="5" name="Footer Placeholder 4">
            <a:extLst>
              <a:ext uri="{FF2B5EF4-FFF2-40B4-BE49-F238E27FC236}">
                <a16:creationId xmlns:a16="http://schemas.microsoft.com/office/drawing/2014/main" id="{C79BC150-A204-49D2-9D8E-FF94A80598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3D4D7-F4E6-4DCC-8D70-FEE3F73B26E9}"/>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2884079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6A519-D87C-488E-ADFE-F2DA06F74F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34662A-F694-4FC2-8186-9EC8100E92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331E7F-F57A-41C1-85B3-60B1CFFF9E71}"/>
              </a:ext>
            </a:extLst>
          </p:cNvPr>
          <p:cNvSpPr>
            <a:spLocks noGrp="1"/>
          </p:cNvSpPr>
          <p:nvPr>
            <p:ph type="dt" sz="half" idx="10"/>
          </p:nvPr>
        </p:nvSpPr>
        <p:spPr/>
        <p:txBody>
          <a:bodyPr/>
          <a:lstStyle/>
          <a:p>
            <a:fld id="{116D2029-E358-4AE2-BD67-09DE1DB7FCC2}" type="datetime1">
              <a:rPr lang="en-US" smtClean="0"/>
              <a:t>6/2/2026</a:t>
            </a:fld>
            <a:endParaRPr lang="en-US"/>
          </a:p>
        </p:txBody>
      </p:sp>
      <p:sp>
        <p:nvSpPr>
          <p:cNvPr id="5" name="Footer Placeholder 4">
            <a:extLst>
              <a:ext uri="{FF2B5EF4-FFF2-40B4-BE49-F238E27FC236}">
                <a16:creationId xmlns:a16="http://schemas.microsoft.com/office/drawing/2014/main" id="{1530D367-1555-444E-ACB3-93C9F6259E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307A70-8343-4765-A8F4-F70EBDB87082}"/>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3463948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FDA71-E7FB-4EF3-9AB6-3C3995588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39AC69-A838-49A3-BB02-6751556365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2C746A-F96A-4A61-85AE-950E0B314C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183044-AA95-45E0-8045-ECB303CE7E5C}"/>
              </a:ext>
            </a:extLst>
          </p:cNvPr>
          <p:cNvSpPr>
            <a:spLocks noGrp="1"/>
          </p:cNvSpPr>
          <p:nvPr>
            <p:ph type="dt" sz="half" idx="10"/>
          </p:nvPr>
        </p:nvSpPr>
        <p:spPr/>
        <p:txBody>
          <a:bodyPr/>
          <a:lstStyle/>
          <a:p>
            <a:fld id="{2B3FCEA0-DE3F-4B07-9196-7164A2487F74}" type="datetime1">
              <a:rPr lang="en-US" smtClean="0"/>
              <a:t>6/2/2026</a:t>
            </a:fld>
            <a:endParaRPr lang="en-US"/>
          </a:p>
        </p:txBody>
      </p:sp>
      <p:sp>
        <p:nvSpPr>
          <p:cNvPr id="6" name="Footer Placeholder 5">
            <a:extLst>
              <a:ext uri="{FF2B5EF4-FFF2-40B4-BE49-F238E27FC236}">
                <a16:creationId xmlns:a16="http://schemas.microsoft.com/office/drawing/2014/main" id="{1E590755-B316-44D4-83C4-6FA3230F1E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682D73-A313-45A9-B95C-05D1C8E1B004}"/>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2538875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3D63D-4F2A-40C2-BFD6-24318EFA9B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07D275-5112-4CE4-A264-6781108026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6615AD-BBC5-4932-B6D2-F5783BF50A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FD2247-EA92-484A-A4EB-F17E53F83B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2EC5E3-FA64-44AE-9597-445AA8701E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7B9E83-0DE8-4857-8E7F-48DE835A6C1B}"/>
              </a:ext>
            </a:extLst>
          </p:cNvPr>
          <p:cNvSpPr>
            <a:spLocks noGrp="1"/>
          </p:cNvSpPr>
          <p:nvPr>
            <p:ph type="dt" sz="half" idx="10"/>
          </p:nvPr>
        </p:nvSpPr>
        <p:spPr/>
        <p:txBody>
          <a:bodyPr/>
          <a:lstStyle/>
          <a:p>
            <a:fld id="{2B4A4191-AD9C-4FF7-B10A-9C178CC38D1B}" type="datetime1">
              <a:rPr lang="en-US" smtClean="0"/>
              <a:t>6/2/2026</a:t>
            </a:fld>
            <a:endParaRPr lang="en-US"/>
          </a:p>
        </p:txBody>
      </p:sp>
      <p:sp>
        <p:nvSpPr>
          <p:cNvPr id="8" name="Footer Placeholder 7">
            <a:extLst>
              <a:ext uri="{FF2B5EF4-FFF2-40B4-BE49-F238E27FC236}">
                <a16:creationId xmlns:a16="http://schemas.microsoft.com/office/drawing/2014/main" id="{D99056BC-E3FF-4E1F-AC46-7DBA482E91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34451A-8EEE-4A61-8892-9323913248C4}"/>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3420485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397ED-045F-4098-AF15-D3D69FEE7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4A024D-305F-43F6-8065-3B0B1B677A88}"/>
              </a:ext>
            </a:extLst>
          </p:cNvPr>
          <p:cNvSpPr>
            <a:spLocks noGrp="1"/>
          </p:cNvSpPr>
          <p:nvPr>
            <p:ph type="dt" sz="half" idx="10"/>
          </p:nvPr>
        </p:nvSpPr>
        <p:spPr/>
        <p:txBody>
          <a:bodyPr/>
          <a:lstStyle/>
          <a:p>
            <a:fld id="{C09BC809-B2D1-4D77-A4E3-B0D288F5D10C}" type="datetime1">
              <a:rPr lang="en-US" smtClean="0"/>
              <a:t>6/2/2026</a:t>
            </a:fld>
            <a:endParaRPr lang="en-US"/>
          </a:p>
        </p:txBody>
      </p:sp>
      <p:sp>
        <p:nvSpPr>
          <p:cNvPr id="4" name="Footer Placeholder 3">
            <a:extLst>
              <a:ext uri="{FF2B5EF4-FFF2-40B4-BE49-F238E27FC236}">
                <a16:creationId xmlns:a16="http://schemas.microsoft.com/office/drawing/2014/main" id="{74FE477E-6F67-41DF-8D25-E5C76155E6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ADE0B9-7911-4CE3-BB10-C3750B6B5245}"/>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2555888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1306DF-FCBB-4E82-9328-40AE165403B8}"/>
              </a:ext>
            </a:extLst>
          </p:cNvPr>
          <p:cNvSpPr>
            <a:spLocks noGrp="1"/>
          </p:cNvSpPr>
          <p:nvPr>
            <p:ph type="dt" sz="half" idx="10"/>
          </p:nvPr>
        </p:nvSpPr>
        <p:spPr/>
        <p:txBody>
          <a:bodyPr/>
          <a:lstStyle/>
          <a:p>
            <a:fld id="{30C9B96A-D29A-4FD0-802A-15B0D5CCBA45}" type="datetime1">
              <a:rPr lang="en-US" smtClean="0"/>
              <a:t>6/2/2026</a:t>
            </a:fld>
            <a:endParaRPr lang="en-US"/>
          </a:p>
        </p:txBody>
      </p:sp>
      <p:sp>
        <p:nvSpPr>
          <p:cNvPr id="3" name="Footer Placeholder 2">
            <a:extLst>
              <a:ext uri="{FF2B5EF4-FFF2-40B4-BE49-F238E27FC236}">
                <a16:creationId xmlns:a16="http://schemas.microsoft.com/office/drawing/2014/main" id="{21A1420A-9AAB-4145-8B32-B1C0A24E09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65DB4A-1FC1-4FA1-BE70-1735EDF5FCBA}"/>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2241501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35967-0485-40E2-8E36-AE58717CE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07F09B-2F92-4598-9BA5-0CD9068D78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9C296-7989-4497-8958-D891BC5E6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831252-DBBE-4A87-8DD5-D4D5401E5018}"/>
              </a:ext>
            </a:extLst>
          </p:cNvPr>
          <p:cNvSpPr>
            <a:spLocks noGrp="1"/>
          </p:cNvSpPr>
          <p:nvPr>
            <p:ph type="dt" sz="half" idx="10"/>
          </p:nvPr>
        </p:nvSpPr>
        <p:spPr/>
        <p:txBody>
          <a:bodyPr/>
          <a:lstStyle/>
          <a:p>
            <a:fld id="{217059AD-839D-4A48-BDC0-62287EF4B831}" type="datetime1">
              <a:rPr lang="en-US" smtClean="0"/>
              <a:t>6/2/2026</a:t>
            </a:fld>
            <a:endParaRPr lang="en-US"/>
          </a:p>
        </p:txBody>
      </p:sp>
      <p:sp>
        <p:nvSpPr>
          <p:cNvPr id="6" name="Footer Placeholder 5">
            <a:extLst>
              <a:ext uri="{FF2B5EF4-FFF2-40B4-BE49-F238E27FC236}">
                <a16:creationId xmlns:a16="http://schemas.microsoft.com/office/drawing/2014/main" id="{5E192A95-AF30-434A-8898-88CADB4F78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869DC1-CE15-4C09-994F-79C41FF162B1}"/>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1394893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92625-5D93-4BA5-B34F-A99479BE75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289110-A93D-40C4-9435-056CD8F331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78BA85-BCAF-4616-8D3B-72DC8A729F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6DFF15-F2D5-4F8C-AF0E-04C1A4E79558}"/>
              </a:ext>
            </a:extLst>
          </p:cNvPr>
          <p:cNvSpPr>
            <a:spLocks noGrp="1"/>
          </p:cNvSpPr>
          <p:nvPr>
            <p:ph type="dt" sz="half" idx="10"/>
          </p:nvPr>
        </p:nvSpPr>
        <p:spPr/>
        <p:txBody>
          <a:bodyPr/>
          <a:lstStyle/>
          <a:p>
            <a:fld id="{96FF298C-F83B-4E48-8F83-3DAB88088BD3}" type="datetime1">
              <a:rPr lang="en-US" smtClean="0"/>
              <a:t>6/2/2026</a:t>
            </a:fld>
            <a:endParaRPr lang="en-US"/>
          </a:p>
        </p:txBody>
      </p:sp>
      <p:sp>
        <p:nvSpPr>
          <p:cNvPr id="6" name="Footer Placeholder 5">
            <a:extLst>
              <a:ext uri="{FF2B5EF4-FFF2-40B4-BE49-F238E27FC236}">
                <a16:creationId xmlns:a16="http://schemas.microsoft.com/office/drawing/2014/main" id="{804FA264-AC0B-443C-9156-350DF1FBFE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9870EF-5FF5-4EA8-A6D8-211DE4BCE2D9}"/>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382218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9AAA6-4D6C-44CE-A5CE-8116F0FA97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89F4BD-2CCC-4438-B420-C9BEF215EC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784F5-37CD-4A43-9669-4444A42D9CE7}"/>
              </a:ext>
            </a:extLst>
          </p:cNvPr>
          <p:cNvSpPr>
            <a:spLocks noGrp="1"/>
          </p:cNvSpPr>
          <p:nvPr>
            <p:ph type="dt" sz="half" idx="10"/>
          </p:nvPr>
        </p:nvSpPr>
        <p:spPr/>
        <p:txBody>
          <a:bodyPr/>
          <a:lstStyle/>
          <a:p>
            <a:fld id="{87D687BB-C4D8-4A47-8F65-05A839750928}" type="datetime1">
              <a:rPr lang="en-US" smtClean="0"/>
              <a:t>6/2/2026</a:t>
            </a:fld>
            <a:endParaRPr lang="en-US"/>
          </a:p>
        </p:txBody>
      </p:sp>
      <p:sp>
        <p:nvSpPr>
          <p:cNvPr id="5" name="Footer Placeholder 4">
            <a:extLst>
              <a:ext uri="{FF2B5EF4-FFF2-40B4-BE49-F238E27FC236}">
                <a16:creationId xmlns:a16="http://schemas.microsoft.com/office/drawing/2014/main" id="{4BB07250-4E9F-4A44-8DE1-FFFA13FC6C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A8D833-6677-4733-8153-C75D76DB26C6}"/>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338098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3B3B29-5984-473B-B95B-19BE4AAB2A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5BA9DF-0079-4250-B214-A2CE7FB855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68301-CAD4-4FFB-9270-217D1DCC9640}"/>
              </a:ext>
            </a:extLst>
          </p:cNvPr>
          <p:cNvSpPr>
            <a:spLocks noGrp="1"/>
          </p:cNvSpPr>
          <p:nvPr>
            <p:ph type="dt" sz="half" idx="10"/>
          </p:nvPr>
        </p:nvSpPr>
        <p:spPr/>
        <p:txBody>
          <a:bodyPr/>
          <a:lstStyle/>
          <a:p>
            <a:fld id="{12B4ACDF-622A-41EF-8EED-3B52136D17F1}" type="datetime1">
              <a:rPr lang="en-US" smtClean="0"/>
              <a:t>6/2/2026</a:t>
            </a:fld>
            <a:endParaRPr lang="en-US"/>
          </a:p>
        </p:txBody>
      </p:sp>
      <p:sp>
        <p:nvSpPr>
          <p:cNvPr id="5" name="Footer Placeholder 4">
            <a:extLst>
              <a:ext uri="{FF2B5EF4-FFF2-40B4-BE49-F238E27FC236}">
                <a16:creationId xmlns:a16="http://schemas.microsoft.com/office/drawing/2014/main" id="{A1358F4F-2EC7-417B-AC36-C004989166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7092FA-8A65-42C5-BCD5-4DB76D0412A2}"/>
              </a:ext>
            </a:extLst>
          </p:cNvPr>
          <p:cNvSpPr>
            <a:spLocks noGrp="1"/>
          </p:cNvSpPr>
          <p:nvPr>
            <p:ph type="sldNum" sz="quarter" idx="12"/>
          </p:nvPr>
        </p:nvSpPr>
        <p:spPr/>
        <p:txBody>
          <a:bodyPr/>
          <a:lstStyle/>
          <a:p>
            <a:fld id="{71E90E32-7D5C-4934-A26B-D6DD83B0CD6B}" type="slidenum">
              <a:rPr lang="en-US" smtClean="0"/>
              <a:t>‹#›</a:t>
            </a:fld>
            <a:endParaRPr lang="en-US"/>
          </a:p>
        </p:txBody>
      </p:sp>
    </p:spTree>
    <p:extLst>
      <p:ext uri="{BB962C8B-B14F-4D97-AF65-F5344CB8AC3E}">
        <p14:creationId xmlns:p14="http://schemas.microsoft.com/office/powerpoint/2010/main" val="2780455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713CF4-4C3B-42A4-B7C3-5894C2F887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55D396-9E1F-492D-B9C5-F4A87F7A67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2EB40-1931-466D-858C-AC93D2D97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B36D63-CC31-4C03-81F7-CCEF68244287}" type="datetime1">
              <a:rPr lang="en-US" smtClean="0"/>
              <a:t>6/2/2026</a:t>
            </a:fld>
            <a:endParaRPr lang="en-US"/>
          </a:p>
        </p:txBody>
      </p:sp>
      <p:sp>
        <p:nvSpPr>
          <p:cNvPr id="5" name="Footer Placeholder 4">
            <a:extLst>
              <a:ext uri="{FF2B5EF4-FFF2-40B4-BE49-F238E27FC236}">
                <a16:creationId xmlns:a16="http://schemas.microsoft.com/office/drawing/2014/main" id="{D8E33F57-ED0B-4C73-9D87-C491812423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8A03D9-179C-41C3-A375-5BC0F68668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E90E32-7D5C-4934-A26B-D6DD83B0CD6B}" type="slidenum">
              <a:rPr lang="en-US" smtClean="0"/>
              <a:t>‹#›</a:t>
            </a:fld>
            <a:endParaRPr lang="en-US"/>
          </a:p>
        </p:txBody>
      </p:sp>
    </p:spTree>
    <p:extLst>
      <p:ext uri="{BB962C8B-B14F-4D97-AF65-F5344CB8AC3E}">
        <p14:creationId xmlns:p14="http://schemas.microsoft.com/office/powerpoint/2010/main" val="1383843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academic.oup.com/joeg/article/25/3/329/7901283" TargetMode="External"/><Relationship Id="rId2" Type="http://schemas.openxmlformats.org/officeDocument/2006/relationships/hyperlink" Target="https://www.naiop.org/research-and-publications/magazine/2023/winter-2023-2024/development-ownership/data-center-real-estate-challenges-and-opportunities-in-the-digital-age/" TargetMode="External"/><Relationship Id="rId1" Type="http://schemas.openxmlformats.org/officeDocument/2006/relationships/slideLayout" Target="../slideLayouts/slideLayout2.xml"/><Relationship Id="rId4" Type="http://schemas.openxmlformats.org/officeDocument/2006/relationships/hyperlink" Target="https://doi.org/10.1016/j.jue.2021.10335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DAA29-4154-45AA-8084-B3FF73CE6A12}"/>
              </a:ext>
            </a:extLst>
          </p:cNvPr>
          <p:cNvSpPr>
            <a:spLocks noGrp="1"/>
          </p:cNvSpPr>
          <p:nvPr>
            <p:ph type="ctrTitle"/>
          </p:nvPr>
        </p:nvSpPr>
        <p:spPr>
          <a:xfrm>
            <a:off x="634537" y="753745"/>
            <a:ext cx="4934989" cy="2387600"/>
          </a:xfrm>
        </p:spPr>
        <p:txBody>
          <a:bodyPr>
            <a:normAutofit/>
          </a:bodyPr>
          <a:lstStyle/>
          <a:p>
            <a:r>
              <a:rPr lang="en-US" sz="7200" dirty="0">
                <a:latin typeface="Bahnschrift Condensed" panose="020B0502040204020203" pitchFamily="34" charset="0"/>
              </a:rPr>
              <a:t>Rent Inflation</a:t>
            </a:r>
            <a:br>
              <a:rPr lang="en-US" dirty="0"/>
            </a:br>
            <a:r>
              <a:rPr lang="en-US" sz="1800" b="1" dirty="0"/>
              <a:t>Modelling the Spread of Rent Inflation across </a:t>
            </a:r>
            <a:br>
              <a:rPr lang="en-US" sz="1800" b="1" dirty="0"/>
            </a:br>
            <a:r>
              <a:rPr lang="en-US" sz="1800" b="1" dirty="0"/>
              <a:t>Counties in the state of New York through a Combined Spatial Analysis and Diffusion Modeling Approach</a:t>
            </a:r>
            <a:endParaRPr lang="en-US" dirty="0"/>
          </a:p>
        </p:txBody>
      </p:sp>
      <p:sp>
        <p:nvSpPr>
          <p:cNvPr id="3" name="Subtitle 2">
            <a:extLst>
              <a:ext uri="{FF2B5EF4-FFF2-40B4-BE49-F238E27FC236}">
                <a16:creationId xmlns:a16="http://schemas.microsoft.com/office/drawing/2014/main" id="{C74F9BF2-B150-4DFF-AD2E-AF42E57C8F0B}"/>
              </a:ext>
            </a:extLst>
          </p:cNvPr>
          <p:cNvSpPr>
            <a:spLocks noGrp="1"/>
          </p:cNvSpPr>
          <p:nvPr>
            <p:ph type="subTitle" idx="1"/>
          </p:nvPr>
        </p:nvSpPr>
        <p:spPr>
          <a:xfrm>
            <a:off x="1641739" y="4176098"/>
            <a:ext cx="2920584" cy="976630"/>
          </a:xfrm>
        </p:spPr>
        <p:txBody>
          <a:bodyPr>
            <a:normAutofit/>
          </a:bodyPr>
          <a:lstStyle/>
          <a:p>
            <a:r>
              <a:rPr lang="en-US" sz="1400" b="1" dirty="0"/>
              <a:t>Name: Mohith Reddy Kandakatla</a:t>
            </a:r>
          </a:p>
          <a:p>
            <a:r>
              <a:rPr lang="en-US" sz="1400" b="1" dirty="0"/>
              <a:t>Regis University</a:t>
            </a:r>
          </a:p>
          <a:p>
            <a:endParaRPr lang="en-US" sz="1400" dirty="0"/>
          </a:p>
        </p:txBody>
      </p:sp>
      <p:pic>
        <p:nvPicPr>
          <p:cNvPr id="5" name="Picture 4">
            <a:extLst>
              <a:ext uri="{FF2B5EF4-FFF2-40B4-BE49-F238E27FC236}">
                <a16:creationId xmlns:a16="http://schemas.microsoft.com/office/drawing/2014/main" id="{873C504C-BA5F-451C-9AE5-EC37EE840147}"/>
              </a:ext>
            </a:extLst>
          </p:cNvPr>
          <p:cNvPicPr>
            <a:picLocks noChangeAspect="1"/>
          </p:cNvPicPr>
          <p:nvPr/>
        </p:nvPicPr>
        <p:blipFill rotWithShape="1">
          <a:blip r:embed="rId2">
            <a:extLst>
              <a:ext uri="{28A0092B-C50C-407E-A947-70E740481C1C}">
                <a14:useLocalDpi xmlns:a14="http://schemas.microsoft.com/office/drawing/2010/main" val="0"/>
              </a:ext>
            </a:extLst>
          </a:blip>
          <a:srcRect l="18351" r="19058"/>
          <a:stretch/>
        </p:blipFill>
        <p:spPr>
          <a:xfrm>
            <a:off x="6172200" y="0"/>
            <a:ext cx="6019800" cy="6858000"/>
          </a:xfrm>
          <a:prstGeom prst="rect">
            <a:avLst/>
          </a:prstGeom>
        </p:spPr>
      </p:pic>
    </p:spTree>
    <p:extLst>
      <p:ext uri="{BB962C8B-B14F-4D97-AF65-F5344CB8AC3E}">
        <p14:creationId xmlns:p14="http://schemas.microsoft.com/office/powerpoint/2010/main" val="2042951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58A66-8F56-4856-B28C-537A4E7EBC48}"/>
              </a:ext>
            </a:extLst>
          </p:cNvPr>
          <p:cNvSpPr>
            <a:spLocks noGrp="1"/>
          </p:cNvSpPr>
          <p:nvPr>
            <p:ph type="title"/>
          </p:nvPr>
        </p:nvSpPr>
        <p:spPr/>
        <p:txBody>
          <a:bodyPr/>
          <a:lstStyle/>
          <a:p>
            <a:r>
              <a:rPr lang="en-US" dirty="0">
                <a:latin typeface="Bahnschrift Condensed" panose="020B0502040204020203" pitchFamily="34" charset="0"/>
              </a:rPr>
              <a:t>Introduction and Background </a:t>
            </a:r>
            <a:endParaRPr lang="en-US" dirty="0"/>
          </a:p>
        </p:txBody>
      </p:sp>
      <p:sp>
        <p:nvSpPr>
          <p:cNvPr id="5" name="Text Placeholder 4">
            <a:extLst>
              <a:ext uri="{FF2B5EF4-FFF2-40B4-BE49-F238E27FC236}">
                <a16:creationId xmlns:a16="http://schemas.microsoft.com/office/drawing/2014/main" id="{80F76585-6FF3-476D-B096-694FCE9D8445}"/>
              </a:ext>
            </a:extLst>
          </p:cNvPr>
          <p:cNvSpPr>
            <a:spLocks noGrp="1"/>
          </p:cNvSpPr>
          <p:nvPr>
            <p:ph type="body" idx="1"/>
          </p:nvPr>
        </p:nvSpPr>
        <p:spPr/>
        <p:txBody>
          <a:bodyPr/>
          <a:lstStyle/>
          <a:p>
            <a:r>
              <a:rPr lang="en-US" dirty="0"/>
              <a:t>Investment Injection </a:t>
            </a:r>
          </a:p>
        </p:txBody>
      </p:sp>
      <p:sp>
        <p:nvSpPr>
          <p:cNvPr id="6" name="Content Placeholder 5">
            <a:extLst>
              <a:ext uri="{FF2B5EF4-FFF2-40B4-BE49-F238E27FC236}">
                <a16:creationId xmlns:a16="http://schemas.microsoft.com/office/drawing/2014/main" id="{846B0B54-BD89-432E-8C80-63643A2B49ED}"/>
              </a:ext>
            </a:extLst>
          </p:cNvPr>
          <p:cNvSpPr>
            <a:spLocks noGrp="1"/>
          </p:cNvSpPr>
          <p:nvPr>
            <p:ph sz="half" idx="2"/>
          </p:nvPr>
        </p:nvSpPr>
        <p:spPr/>
        <p:txBody>
          <a:bodyPr>
            <a:normAutofit fontScale="92500" lnSpcReduction="10000"/>
          </a:bodyPr>
          <a:lstStyle/>
          <a:p>
            <a:r>
              <a:rPr lang="en-US" sz="2200" dirty="0"/>
              <a:t>New businesses, with high injection of investment, cause the local economy to experience sudden change in the form of a surge in cashflows [1]. Such new businesses include:</a:t>
            </a:r>
          </a:p>
          <a:p>
            <a:pPr lvl="1"/>
            <a:r>
              <a:rPr lang="en-US" sz="1900" dirty="0"/>
              <a:t>Data centers</a:t>
            </a:r>
          </a:p>
          <a:p>
            <a:pPr lvl="1"/>
            <a:r>
              <a:rPr lang="en-US" sz="1900" dirty="0"/>
              <a:t>Home buying as investment</a:t>
            </a:r>
          </a:p>
          <a:p>
            <a:pPr lvl="1"/>
            <a:r>
              <a:rPr lang="en-US" sz="1900" dirty="0"/>
              <a:t>Short-stay rentals</a:t>
            </a:r>
          </a:p>
          <a:p>
            <a:pPr marL="0" indent="0">
              <a:buNone/>
            </a:pPr>
            <a:endParaRPr lang="en-US" dirty="0"/>
          </a:p>
          <a:p>
            <a:r>
              <a:rPr lang="en-US" sz="2200" dirty="0"/>
              <a:t>In order to exploit this surge in cashflows, owners of rental houses increase the rents, creating rent inflation [2]. </a:t>
            </a:r>
          </a:p>
          <a:p>
            <a:endParaRPr lang="en-US" dirty="0"/>
          </a:p>
          <a:p>
            <a:endParaRPr lang="en-US" dirty="0"/>
          </a:p>
        </p:txBody>
      </p:sp>
      <p:sp>
        <p:nvSpPr>
          <p:cNvPr id="7" name="Text Placeholder 6">
            <a:extLst>
              <a:ext uri="{FF2B5EF4-FFF2-40B4-BE49-F238E27FC236}">
                <a16:creationId xmlns:a16="http://schemas.microsoft.com/office/drawing/2014/main" id="{7E03B940-57E8-4D95-96C3-0D4066368E23}"/>
              </a:ext>
            </a:extLst>
          </p:cNvPr>
          <p:cNvSpPr>
            <a:spLocks noGrp="1"/>
          </p:cNvSpPr>
          <p:nvPr>
            <p:ph type="body" sz="quarter" idx="3"/>
          </p:nvPr>
        </p:nvSpPr>
        <p:spPr/>
        <p:txBody>
          <a:bodyPr/>
          <a:lstStyle/>
          <a:p>
            <a:r>
              <a:rPr lang="en-US" dirty="0"/>
              <a:t>Rent Inflation</a:t>
            </a:r>
          </a:p>
        </p:txBody>
      </p:sp>
      <p:sp>
        <p:nvSpPr>
          <p:cNvPr id="8" name="Content Placeholder 7">
            <a:extLst>
              <a:ext uri="{FF2B5EF4-FFF2-40B4-BE49-F238E27FC236}">
                <a16:creationId xmlns:a16="http://schemas.microsoft.com/office/drawing/2014/main" id="{07BBD49E-4BFE-4BF6-96FE-B3E7CCFF396C}"/>
              </a:ext>
            </a:extLst>
          </p:cNvPr>
          <p:cNvSpPr>
            <a:spLocks noGrp="1"/>
          </p:cNvSpPr>
          <p:nvPr>
            <p:ph sz="quarter" idx="4"/>
          </p:nvPr>
        </p:nvSpPr>
        <p:spPr/>
        <p:txBody>
          <a:bodyPr>
            <a:normAutofit fontScale="92500" lnSpcReduction="10000"/>
          </a:bodyPr>
          <a:lstStyle/>
          <a:p>
            <a:r>
              <a:rPr lang="en-US" sz="2200" dirty="0"/>
              <a:t>Rent inflation is a term that refers to the rate at which rent prices for residential houses increase</a:t>
            </a:r>
            <a:r>
              <a:rPr lang="en-US" dirty="0"/>
              <a:t>.</a:t>
            </a:r>
          </a:p>
          <a:p>
            <a:endParaRPr lang="en-US" dirty="0"/>
          </a:p>
          <a:p>
            <a:r>
              <a:rPr lang="en-US" sz="2200" dirty="0"/>
              <a:t>Key drivers of rent inflation are [3]:</a:t>
            </a:r>
          </a:p>
          <a:p>
            <a:pPr lvl="1"/>
            <a:r>
              <a:rPr lang="en-US" sz="1900" dirty="0"/>
              <a:t>demand pull (that is high demand and low supply) and </a:t>
            </a:r>
          </a:p>
          <a:p>
            <a:pPr lvl="1"/>
            <a:r>
              <a:rPr lang="en-US" sz="1900" dirty="0"/>
              <a:t>cost push factors (that is higher property taxes, insurance and maintenance).</a:t>
            </a:r>
          </a:p>
          <a:p>
            <a:endParaRPr lang="en-US" dirty="0"/>
          </a:p>
        </p:txBody>
      </p:sp>
      <p:sp>
        <p:nvSpPr>
          <p:cNvPr id="4" name="Slide Number Placeholder 3">
            <a:extLst>
              <a:ext uri="{FF2B5EF4-FFF2-40B4-BE49-F238E27FC236}">
                <a16:creationId xmlns:a16="http://schemas.microsoft.com/office/drawing/2014/main" id="{95863D10-47F4-4DF7-BC57-98C9655078E2}"/>
              </a:ext>
            </a:extLst>
          </p:cNvPr>
          <p:cNvSpPr>
            <a:spLocks noGrp="1"/>
          </p:cNvSpPr>
          <p:nvPr>
            <p:ph type="sldNum" sz="quarter" idx="12"/>
          </p:nvPr>
        </p:nvSpPr>
        <p:spPr/>
        <p:txBody>
          <a:bodyPr/>
          <a:lstStyle/>
          <a:p>
            <a:fld id="{71E90E32-7D5C-4934-A26B-D6DD83B0CD6B}" type="slidenum">
              <a:rPr lang="en-US" smtClean="0"/>
              <a:t>2</a:t>
            </a:fld>
            <a:endParaRPr lang="en-US"/>
          </a:p>
        </p:txBody>
      </p:sp>
    </p:spTree>
    <p:extLst>
      <p:ext uri="{BB962C8B-B14F-4D97-AF65-F5344CB8AC3E}">
        <p14:creationId xmlns:p14="http://schemas.microsoft.com/office/powerpoint/2010/main" val="1323427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4309-C868-4985-ABC6-7F8DBF11348C}"/>
              </a:ext>
            </a:extLst>
          </p:cNvPr>
          <p:cNvSpPr>
            <a:spLocks noGrp="1"/>
          </p:cNvSpPr>
          <p:nvPr>
            <p:ph type="title"/>
          </p:nvPr>
        </p:nvSpPr>
        <p:spPr/>
        <p:txBody>
          <a:bodyPr/>
          <a:lstStyle/>
          <a:p>
            <a:r>
              <a:rPr lang="en-US" dirty="0">
                <a:latin typeface="Bahnschrift Condensed" panose="020B0502040204020203" pitchFamily="34" charset="0"/>
              </a:rPr>
              <a:t>Problems Arising</a:t>
            </a:r>
          </a:p>
        </p:txBody>
      </p:sp>
      <p:sp>
        <p:nvSpPr>
          <p:cNvPr id="3" name="Text Placeholder 2">
            <a:extLst>
              <a:ext uri="{FF2B5EF4-FFF2-40B4-BE49-F238E27FC236}">
                <a16:creationId xmlns:a16="http://schemas.microsoft.com/office/drawing/2014/main" id="{D6041D6A-3CBB-4265-B96D-FC9D1051864A}"/>
              </a:ext>
            </a:extLst>
          </p:cNvPr>
          <p:cNvSpPr>
            <a:spLocks noGrp="1"/>
          </p:cNvSpPr>
          <p:nvPr>
            <p:ph type="body" idx="1"/>
          </p:nvPr>
        </p:nvSpPr>
        <p:spPr/>
        <p:txBody>
          <a:bodyPr/>
          <a:lstStyle/>
          <a:p>
            <a:r>
              <a:rPr lang="en-US" dirty="0"/>
              <a:t> Property Pricing</a:t>
            </a:r>
          </a:p>
        </p:txBody>
      </p:sp>
      <p:sp>
        <p:nvSpPr>
          <p:cNvPr id="4" name="Content Placeholder 3">
            <a:extLst>
              <a:ext uri="{FF2B5EF4-FFF2-40B4-BE49-F238E27FC236}">
                <a16:creationId xmlns:a16="http://schemas.microsoft.com/office/drawing/2014/main" id="{D07F198B-1156-40C2-8230-715304200A66}"/>
              </a:ext>
            </a:extLst>
          </p:cNvPr>
          <p:cNvSpPr>
            <a:spLocks noGrp="1"/>
          </p:cNvSpPr>
          <p:nvPr>
            <p:ph sz="half" idx="2"/>
          </p:nvPr>
        </p:nvSpPr>
        <p:spPr/>
        <p:txBody>
          <a:bodyPr>
            <a:normAutofit/>
          </a:bodyPr>
          <a:lstStyle/>
          <a:p>
            <a:r>
              <a:rPr lang="en-US" sz="2000" dirty="0"/>
              <a:t>Rent inflation causes rises in the rent prices at market level and is associated with increase in maintenance costs for property owners. </a:t>
            </a:r>
          </a:p>
          <a:p>
            <a:endParaRPr lang="en-US" sz="2000" dirty="0"/>
          </a:p>
          <a:p>
            <a:r>
              <a:rPr lang="en-US" sz="2000" dirty="0"/>
              <a:t>Hence, property owners need to understand rent inflation as an anticipatory strategy for adjusting to both market prices and market costs. </a:t>
            </a:r>
          </a:p>
        </p:txBody>
      </p:sp>
      <p:sp>
        <p:nvSpPr>
          <p:cNvPr id="5" name="Text Placeholder 4">
            <a:extLst>
              <a:ext uri="{FF2B5EF4-FFF2-40B4-BE49-F238E27FC236}">
                <a16:creationId xmlns:a16="http://schemas.microsoft.com/office/drawing/2014/main" id="{F7B82B77-8966-4BA3-A451-F516B70759D7}"/>
              </a:ext>
            </a:extLst>
          </p:cNvPr>
          <p:cNvSpPr>
            <a:spLocks noGrp="1"/>
          </p:cNvSpPr>
          <p:nvPr>
            <p:ph type="body" sz="quarter" idx="3"/>
          </p:nvPr>
        </p:nvSpPr>
        <p:spPr/>
        <p:txBody>
          <a:bodyPr/>
          <a:lstStyle/>
          <a:p>
            <a:r>
              <a:rPr lang="en-US" dirty="0"/>
              <a:t>Property Development</a:t>
            </a:r>
          </a:p>
        </p:txBody>
      </p:sp>
      <p:sp>
        <p:nvSpPr>
          <p:cNvPr id="6" name="Content Placeholder 5">
            <a:extLst>
              <a:ext uri="{FF2B5EF4-FFF2-40B4-BE49-F238E27FC236}">
                <a16:creationId xmlns:a16="http://schemas.microsoft.com/office/drawing/2014/main" id="{E1A7D0DF-880A-465E-81B7-A4B24A173F45}"/>
              </a:ext>
            </a:extLst>
          </p:cNvPr>
          <p:cNvSpPr>
            <a:spLocks noGrp="1"/>
          </p:cNvSpPr>
          <p:nvPr>
            <p:ph sz="quarter" idx="4"/>
          </p:nvPr>
        </p:nvSpPr>
        <p:spPr/>
        <p:txBody>
          <a:bodyPr>
            <a:normAutofit/>
          </a:bodyPr>
          <a:lstStyle/>
          <a:p>
            <a:r>
              <a:rPr lang="en-US" sz="2000" dirty="0"/>
              <a:t>Rent inflation serves to modify the housing needs of tenants and they may shift location or move down the rental type and size. </a:t>
            </a:r>
          </a:p>
          <a:p>
            <a:endParaRPr lang="en-US" sz="2000" dirty="0"/>
          </a:p>
          <a:p>
            <a:r>
              <a:rPr lang="en-US" sz="2000" dirty="0"/>
              <a:t>Property development for rental units is dependent on the rental needs in the market. Understanding the spread in rent inflation would allow for better judgement on when, where and what type of rental property to develop. </a:t>
            </a:r>
          </a:p>
        </p:txBody>
      </p:sp>
      <p:sp>
        <p:nvSpPr>
          <p:cNvPr id="7" name="Slide Number Placeholder 6">
            <a:extLst>
              <a:ext uri="{FF2B5EF4-FFF2-40B4-BE49-F238E27FC236}">
                <a16:creationId xmlns:a16="http://schemas.microsoft.com/office/drawing/2014/main" id="{C9FD2AE6-94FD-41C3-B57D-B941C9DC8B78}"/>
              </a:ext>
            </a:extLst>
          </p:cNvPr>
          <p:cNvSpPr>
            <a:spLocks noGrp="1"/>
          </p:cNvSpPr>
          <p:nvPr>
            <p:ph type="sldNum" sz="quarter" idx="12"/>
          </p:nvPr>
        </p:nvSpPr>
        <p:spPr/>
        <p:txBody>
          <a:bodyPr/>
          <a:lstStyle/>
          <a:p>
            <a:fld id="{71E90E32-7D5C-4934-A26B-D6DD83B0CD6B}" type="slidenum">
              <a:rPr lang="en-US" smtClean="0"/>
              <a:t>3</a:t>
            </a:fld>
            <a:endParaRPr lang="en-US"/>
          </a:p>
        </p:txBody>
      </p:sp>
    </p:spTree>
    <p:extLst>
      <p:ext uri="{BB962C8B-B14F-4D97-AF65-F5344CB8AC3E}">
        <p14:creationId xmlns:p14="http://schemas.microsoft.com/office/powerpoint/2010/main" val="2712117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ACF7B-22A3-486B-AFBD-A6F6B544D625}"/>
              </a:ext>
            </a:extLst>
          </p:cNvPr>
          <p:cNvSpPr>
            <a:spLocks noGrp="1"/>
          </p:cNvSpPr>
          <p:nvPr>
            <p:ph type="title"/>
          </p:nvPr>
        </p:nvSpPr>
        <p:spPr/>
        <p:txBody>
          <a:bodyPr/>
          <a:lstStyle/>
          <a:p>
            <a:r>
              <a:rPr lang="en-US" dirty="0">
                <a:latin typeface="Bahnschrift Condensed" panose="020B0502040204020203" pitchFamily="34" charset="0"/>
              </a:rPr>
              <a:t>Machine Learning Approach to Problems</a:t>
            </a:r>
          </a:p>
        </p:txBody>
      </p:sp>
      <p:sp>
        <p:nvSpPr>
          <p:cNvPr id="3" name="Text Placeholder 2">
            <a:extLst>
              <a:ext uri="{FF2B5EF4-FFF2-40B4-BE49-F238E27FC236}">
                <a16:creationId xmlns:a16="http://schemas.microsoft.com/office/drawing/2014/main" id="{B53C2526-A9B0-4613-BAA5-5EE45E05F079}"/>
              </a:ext>
            </a:extLst>
          </p:cNvPr>
          <p:cNvSpPr>
            <a:spLocks noGrp="1"/>
          </p:cNvSpPr>
          <p:nvPr>
            <p:ph type="body" idx="1"/>
          </p:nvPr>
        </p:nvSpPr>
        <p:spPr/>
        <p:txBody>
          <a:bodyPr/>
          <a:lstStyle/>
          <a:p>
            <a:r>
              <a:rPr lang="en-US" dirty="0"/>
              <a:t>Understanding Spread of Rent Inflation</a:t>
            </a:r>
          </a:p>
        </p:txBody>
      </p:sp>
      <p:sp>
        <p:nvSpPr>
          <p:cNvPr id="4" name="Content Placeholder 3">
            <a:extLst>
              <a:ext uri="{FF2B5EF4-FFF2-40B4-BE49-F238E27FC236}">
                <a16:creationId xmlns:a16="http://schemas.microsoft.com/office/drawing/2014/main" id="{666FCD94-20BF-4FFA-AA08-43D95341765E}"/>
              </a:ext>
            </a:extLst>
          </p:cNvPr>
          <p:cNvSpPr>
            <a:spLocks noGrp="1"/>
          </p:cNvSpPr>
          <p:nvPr>
            <p:ph sz="half" idx="2"/>
          </p:nvPr>
        </p:nvSpPr>
        <p:spPr/>
        <p:txBody>
          <a:bodyPr>
            <a:normAutofit/>
          </a:bodyPr>
          <a:lstStyle/>
          <a:p>
            <a:r>
              <a:rPr lang="en-GB" sz="2000" dirty="0"/>
              <a:t>Diffusion modelling is an analytical approach for mapping behaviour spread through a population with the aim of understanding the nature (including the factors influencing the spread) and magnitude of the spread.</a:t>
            </a:r>
          </a:p>
          <a:p>
            <a:endParaRPr lang="en-GB" sz="2000" dirty="0"/>
          </a:p>
          <a:p>
            <a:r>
              <a:rPr lang="en-GB" sz="2000" dirty="0"/>
              <a:t>In this context, increasing of rent by owners of rent units forms a behaviour with the spread in the tendency of increasing rent requiring investigation to understand the nature and magnitude of the spread.</a:t>
            </a:r>
            <a:endParaRPr lang="en-US" sz="2000" dirty="0"/>
          </a:p>
        </p:txBody>
      </p:sp>
      <p:sp>
        <p:nvSpPr>
          <p:cNvPr id="5" name="Text Placeholder 4">
            <a:extLst>
              <a:ext uri="{FF2B5EF4-FFF2-40B4-BE49-F238E27FC236}">
                <a16:creationId xmlns:a16="http://schemas.microsoft.com/office/drawing/2014/main" id="{BE9C9D18-97B1-429E-B4BF-13AA09E28A72}"/>
              </a:ext>
            </a:extLst>
          </p:cNvPr>
          <p:cNvSpPr>
            <a:spLocks noGrp="1"/>
          </p:cNvSpPr>
          <p:nvPr>
            <p:ph type="body" sz="quarter" idx="3"/>
          </p:nvPr>
        </p:nvSpPr>
        <p:spPr/>
        <p:txBody>
          <a:bodyPr/>
          <a:lstStyle/>
          <a:p>
            <a:r>
              <a:rPr lang="en-US" dirty="0"/>
              <a:t>Forecasting Spread of Rent Inflation</a:t>
            </a:r>
          </a:p>
        </p:txBody>
      </p:sp>
      <p:sp>
        <p:nvSpPr>
          <p:cNvPr id="6" name="Content Placeholder 5">
            <a:extLst>
              <a:ext uri="{FF2B5EF4-FFF2-40B4-BE49-F238E27FC236}">
                <a16:creationId xmlns:a16="http://schemas.microsoft.com/office/drawing/2014/main" id="{1AD06CE1-64B9-48BD-9763-D301A5A6D926}"/>
              </a:ext>
            </a:extLst>
          </p:cNvPr>
          <p:cNvSpPr>
            <a:spLocks noGrp="1"/>
          </p:cNvSpPr>
          <p:nvPr>
            <p:ph sz="quarter" idx="4"/>
          </p:nvPr>
        </p:nvSpPr>
        <p:spPr/>
        <p:txBody>
          <a:bodyPr>
            <a:normAutofit/>
          </a:bodyPr>
          <a:lstStyle/>
          <a:p>
            <a:r>
              <a:rPr lang="en-GB" sz="2000" dirty="0"/>
              <a:t>By factoring in the importance of proximity and time in the spread of rent increases, spatial analysis and diffusion modelling inform on how best property developers and managers adjust to the spread of rent inflation. </a:t>
            </a:r>
          </a:p>
          <a:p>
            <a:endParaRPr lang="en-GB" sz="2000" dirty="0"/>
          </a:p>
          <a:p>
            <a:r>
              <a:rPr lang="en-GB" sz="2000" dirty="0"/>
              <a:t>Time series modelling can then borrow from the insights from both spatial analysis and diffusion modelling to forecast rent inflation and in turn improve decision making for property pricing and property development.</a:t>
            </a:r>
            <a:endParaRPr lang="en-US" sz="2000" dirty="0"/>
          </a:p>
          <a:p>
            <a:endParaRPr lang="en-US" dirty="0"/>
          </a:p>
        </p:txBody>
      </p:sp>
      <p:sp>
        <p:nvSpPr>
          <p:cNvPr id="7" name="Slide Number Placeholder 6">
            <a:extLst>
              <a:ext uri="{FF2B5EF4-FFF2-40B4-BE49-F238E27FC236}">
                <a16:creationId xmlns:a16="http://schemas.microsoft.com/office/drawing/2014/main" id="{3DD6C076-AE9D-4801-8C5D-2BD6FF673BCE}"/>
              </a:ext>
            </a:extLst>
          </p:cNvPr>
          <p:cNvSpPr>
            <a:spLocks noGrp="1"/>
          </p:cNvSpPr>
          <p:nvPr>
            <p:ph type="sldNum" sz="quarter" idx="12"/>
          </p:nvPr>
        </p:nvSpPr>
        <p:spPr/>
        <p:txBody>
          <a:bodyPr/>
          <a:lstStyle/>
          <a:p>
            <a:fld id="{71E90E32-7D5C-4934-A26B-D6DD83B0CD6B}" type="slidenum">
              <a:rPr lang="en-US" smtClean="0"/>
              <a:t>4</a:t>
            </a:fld>
            <a:endParaRPr lang="en-US"/>
          </a:p>
        </p:txBody>
      </p:sp>
    </p:spTree>
    <p:extLst>
      <p:ext uri="{BB962C8B-B14F-4D97-AF65-F5344CB8AC3E}">
        <p14:creationId xmlns:p14="http://schemas.microsoft.com/office/powerpoint/2010/main" val="2056081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7EDD-9A90-47B9-B0F1-B0A80866A4E7}"/>
              </a:ext>
            </a:extLst>
          </p:cNvPr>
          <p:cNvSpPr>
            <a:spLocks noGrp="1"/>
          </p:cNvSpPr>
          <p:nvPr>
            <p:ph type="title"/>
          </p:nvPr>
        </p:nvSpPr>
        <p:spPr>
          <a:xfrm>
            <a:off x="130629" y="239618"/>
            <a:ext cx="10515600" cy="1325563"/>
          </a:xfrm>
        </p:spPr>
        <p:txBody>
          <a:bodyPr>
            <a:normAutofit/>
          </a:bodyPr>
          <a:lstStyle/>
          <a:p>
            <a:r>
              <a:rPr lang="en-US" sz="3200" dirty="0">
                <a:latin typeface="Bahnschrift Condensed" panose="020B0502040204020203" pitchFamily="34" charset="0"/>
              </a:rPr>
              <a:t>Data: Sources, Features and Feature Engineering</a:t>
            </a:r>
          </a:p>
        </p:txBody>
      </p:sp>
      <p:graphicFrame>
        <p:nvGraphicFramePr>
          <p:cNvPr id="4" name="Content Placeholder 3">
            <a:extLst>
              <a:ext uri="{FF2B5EF4-FFF2-40B4-BE49-F238E27FC236}">
                <a16:creationId xmlns:a16="http://schemas.microsoft.com/office/drawing/2014/main" id="{88D953D9-79D7-4634-BB0B-848200D48300}"/>
              </a:ext>
            </a:extLst>
          </p:cNvPr>
          <p:cNvGraphicFramePr>
            <a:graphicFrameLocks noGrp="1"/>
          </p:cNvGraphicFramePr>
          <p:nvPr>
            <p:ph sz="half" idx="1"/>
            <p:extLst>
              <p:ext uri="{D42A27DB-BD31-4B8C-83A1-F6EECF244321}">
                <p14:modId xmlns:p14="http://schemas.microsoft.com/office/powerpoint/2010/main" val="3943763983"/>
              </p:ext>
            </p:extLst>
          </p:nvPr>
        </p:nvGraphicFramePr>
        <p:xfrm>
          <a:off x="130629" y="1610768"/>
          <a:ext cx="6592388" cy="4928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5">
            <a:extLst>
              <a:ext uri="{FF2B5EF4-FFF2-40B4-BE49-F238E27FC236}">
                <a16:creationId xmlns:a16="http://schemas.microsoft.com/office/drawing/2014/main" id="{3A2E44BF-C028-4AAA-918B-9A1AB915AA67}"/>
              </a:ext>
            </a:extLst>
          </p:cNvPr>
          <p:cNvGraphicFramePr>
            <a:graphicFrameLocks noGrp="1"/>
          </p:cNvGraphicFramePr>
          <p:nvPr>
            <p:ph sz="half" idx="2"/>
            <p:extLst>
              <p:ext uri="{D42A27DB-BD31-4B8C-83A1-F6EECF244321}">
                <p14:modId xmlns:p14="http://schemas.microsoft.com/office/powerpoint/2010/main" val="4189628719"/>
              </p:ext>
            </p:extLst>
          </p:nvPr>
        </p:nvGraphicFramePr>
        <p:xfrm>
          <a:off x="6879771" y="138562"/>
          <a:ext cx="5181600" cy="6176876"/>
        </p:xfrm>
        <a:graphic>
          <a:graphicData uri="http://schemas.openxmlformats.org/drawingml/2006/table">
            <a:tbl>
              <a:tblPr firstRow="1" firstCol="1" bandRow="1">
                <a:tableStyleId>{5C22544A-7EE6-4342-B048-85BDC9FD1C3A}</a:tableStyleId>
              </a:tblPr>
              <a:tblGrid>
                <a:gridCol w="1299754">
                  <a:extLst>
                    <a:ext uri="{9D8B030D-6E8A-4147-A177-3AD203B41FA5}">
                      <a16:colId xmlns:a16="http://schemas.microsoft.com/office/drawing/2014/main" val="3462539649"/>
                    </a:ext>
                  </a:extLst>
                </a:gridCol>
                <a:gridCol w="3881846">
                  <a:extLst>
                    <a:ext uri="{9D8B030D-6E8A-4147-A177-3AD203B41FA5}">
                      <a16:colId xmlns:a16="http://schemas.microsoft.com/office/drawing/2014/main" val="1783774406"/>
                    </a:ext>
                  </a:extLst>
                </a:gridCol>
              </a:tblGrid>
              <a:tr h="550574">
                <a:tc>
                  <a:txBody>
                    <a:bodyPr/>
                    <a:lstStyle/>
                    <a:p>
                      <a:pPr marL="0" marR="0" algn="ctr">
                        <a:lnSpc>
                          <a:spcPct val="107000"/>
                        </a:lnSpc>
                        <a:spcBef>
                          <a:spcPts val="0"/>
                        </a:spcBef>
                        <a:spcAft>
                          <a:spcPts val="0"/>
                        </a:spcAft>
                      </a:pPr>
                      <a:r>
                        <a:rPr lang="en-US" sz="1200" b="1" dirty="0">
                          <a:effectLst/>
                        </a:rPr>
                        <a:t>Variable </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ctr">
                        <a:lnSpc>
                          <a:spcPct val="107000"/>
                        </a:lnSpc>
                        <a:spcBef>
                          <a:spcPts val="0"/>
                        </a:spcBef>
                        <a:spcAft>
                          <a:spcPts val="0"/>
                        </a:spcAft>
                      </a:pPr>
                      <a:r>
                        <a:rPr lang="en-US" sz="1200" dirty="0">
                          <a:effectLst/>
                        </a:rPr>
                        <a:t>Description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1018336648"/>
                  </a:ext>
                </a:extLst>
              </a:tr>
              <a:tr h="162431">
                <a:tc>
                  <a:txBody>
                    <a:bodyPr/>
                    <a:lstStyle/>
                    <a:p>
                      <a:pPr marL="0" marR="0" algn="just">
                        <a:lnSpc>
                          <a:spcPct val="107000"/>
                        </a:lnSpc>
                        <a:spcBef>
                          <a:spcPts val="0"/>
                        </a:spcBef>
                        <a:spcAft>
                          <a:spcPts val="0"/>
                        </a:spcAft>
                      </a:pPr>
                      <a:r>
                        <a:rPr lang="en-US" sz="1200" b="1" dirty="0" err="1">
                          <a:effectLst/>
                        </a:rPr>
                        <a:t>State_Name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b="1" dirty="0">
                          <a:effectLst/>
                        </a:rPr>
                        <a:t>State name for only New York</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1522882918"/>
                  </a:ext>
                </a:extLst>
              </a:tr>
              <a:tr h="162431">
                <a:tc>
                  <a:txBody>
                    <a:bodyPr/>
                    <a:lstStyle/>
                    <a:p>
                      <a:pPr marL="0" marR="0" algn="just">
                        <a:lnSpc>
                          <a:spcPct val="107000"/>
                        </a:lnSpc>
                        <a:spcBef>
                          <a:spcPts val="0"/>
                        </a:spcBef>
                        <a:spcAft>
                          <a:spcPts val="0"/>
                        </a:spcAft>
                      </a:pPr>
                      <a:r>
                        <a:rPr lang="en-US" sz="1200" b="1" dirty="0" err="1">
                          <a:effectLst/>
                        </a:rPr>
                        <a:t>county_name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b="1" dirty="0">
                          <a:effectLst/>
                        </a:rPr>
                        <a:t>County name for counties within New York State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2191762421"/>
                  </a:ext>
                </a:extLst>
              </a:tr>
              <a:tr h="162431">
                <a:tc>
                  <a:txBody>
                    <a:bodyPr/>
                    <a:lstStyle/>
                    <a:p>
                      <a:pPr marL="0" marR="0" algn="just">
                        <a:lnSpc>
                          <a:spcPct val="107000"/>
                        </a:lnSpc>
                        <a:spcBef>
                          <a:spcPts val="0"/>
                        </a:spcBef>
                        <a:spcAft>
                          <a:spcPts val="0"/>
                        </a:spcAft>
                      </a:pPr>
                      <a:r>
                        <a:rPr lang="en-US" sz="1200" b="1" dirty="0">
                          <a:effectLst/>
                        </a:rPr>
                        <a:t>Year</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b="1" dirty="0">
                          <a:effectLst/>
                        </a:rPr>
                        <a:t>Year </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999177310"/>
                  </a:ext>
                </a:extLst>
              </a:tr>
              <a:tr h="504029">
                <a:tc>
                  <a:txBody>
                    <a:bodyPr/>
                    <a:lstStyle/>
                    <a:p>
                      <a:pPr marL="0" marR="0" algn="just">
                        <a:lnSpc>
                          <a:spcPct val="107000"/>
                        </a:lnSpc>
                        <a:spcBef>
                          <a:spcPts val="0"/>
                        </a:spcBef>
                        <a:spcAft>
                          <a:spcPts val="0"/>
                        </a:spcAft>
                      </a:pPr>
                      <a:r>
                        <a:rPr lang="en-US" sz="1200" b="0">
                          <a:effectLst/>
                        </a:rPr>
                        <a:t>Rent_50_0</a:t>
                      </a:r>
                      <a:endParaRPr lang="en-US" sz="1200" b="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dirty="0">
                          <a:effectLst/>
                        </a:rPr>
                        <a:t>Annual average median rent per county for living spaces not classified as 1-bedroom house and above.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1136337732"/>
                  </a:ext>
                </a:extLst>
              </a:tr>
              <a:tr h="333230">
                <a:tc>
                  <a:txBody>
                    <a:bodyPr/>
                    <a:lstStyle/>
                    <a:p>
                      <a:pPr marL="0" marR="0" algn="just">
                        <a:lnSpc>
                          <a:spcPct val="107000"/>
                        </a:lnSpc>
                        <a:spcBef>
                          <a:spcPts val="0"/>
                        </a:spcBef>
                        <a:spcAft>
                          <a:spcPts val="0"/>
                        </a:spcAft>
                      </a:pPr>
                      <a:r>
                        <a:rPr lang="en-US" sz="1200" b="0">
                          <a:effectLst/>
                        </a:rPr>
                        <a:t>Rent_50_1</a:t>
                      </a:r>
                      <a:endParaRPr lang="en-US" sz="1200" b="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dirty="0">
                          <a:effectLst/>
                        </a:rPr>
                        <a:t>Annual average median rent per county for living spaces classified as 1-bedroom house.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2501702739"/>
                  </a:ext>
                </a:extLst>
              </a:tr>
              <a:tr h="333230">
                <a:tc>
                  <a:txBody>
                    <a:bodyPr/>
                    <a:lstStyle/>
                    <a:p>
                      <a:pPr marL="0" marR="0" algn="just">
                        <a:lnSpc>
                          <a:spcPct val="107000"/>
                        </a:lnSpc>
                        <a:spcBef>
                          <a:spcPts val="0"/>
                        </a:spcBef>
                        <a:spcAft>
                          <a:spcPts val="0"/>
                        </a:spcAft>
                      </a:pPr>
                      <a:r>
                        <a:rPr lang="en-US" sz="1200" b="0">
                          <a:effectLst/>
                        </a:rPr>
                        <a:t>Rent_50_2</a:t>
                      </a:r>
                      <a:endParaRPr lang="en-US" sz="1200" b="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dirty="0">
                          <a:effectLst/>
                        </a:rPr>
                        <a:t>Annual average median rent per county for living spaces classified as 2-bedroom house.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457728869"/>
                  </a:ext>
                </a:extLst>
              </a:tr>
              <a:tr h="333230">
                <a:tc>
                  <a:txBody>
                    <a:bodyPr/>
                    <a:lstStyle/>
                    <a:p>
                      <a:pPr marL="0" marR="0" algn="just">
                        <a:lnSpc>
                          <a:spcPct val="107000"/>
                        </a:lnSpc>
                        <a:spcBef>
                          <a:spcPts val="0"/>
                        </a:spcBef>
                        <a:spcAft>
                          <a:spcPts val="0"/>
                        </a:spcAft>
                      </a:pPr>
                      <a:r>
                        <a:rPr lang="en-US" sz="1200" b="0">
                          <a:effectLst/>
                        </a:rPr>
                        <a:t>Rent_50_3</a:t>
                      </a:r>
                      <a:endParaRPr lang="en-US" sz="1200" b="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dirty="0">
                          <a:effectLst/>
                        </a:rPr>
                        <a:t>Annual average median rent per county for living spaces classified as 3-bedroom house.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83546356"/>
                  </a:ext>
                </a:extLst>
              </a:tr>
              <a:tr h="333230">
                <a:tc>
                  <a:txBody>
                    <a:bodyPr/>
                    <a:lstStyle/>
                    <a:p>
                      <a:pPr marL="0" marR="0" algn="just">
                        <a:lnSpc>
                          <a:spcPct val="107000"/>
                        </a:lnSpc>
                        <a:spcBef>
                          <a:spcPts val="0"/>
                        </a:spcBef>
                        <a:spcAft>
                          <a:spcPts val="0"/>
                        </a:spcAft>
                      </a:pPr>
                      <a:r>
                        <a:rPr lang="en-US" sz="1200" b="0">
                          <a:effectLst/>
                        </a:rPr>
                        <a:t>Rent_50_4</a:t>
                      </a:r>
                      <a:endParaRPr lang="en-US" sz="1200" b="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dirty="0">
                          <a:effectLst/>
                        </a:rPr>
                        <a:t>Annual average median rent per county for living spaces classified as 4-bedroom house.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3684221111"/>
                  </a:ext>
                </a:extLst>
              </a:tr>
              <a:tr h="162431">
                <a:tc>
                  <a:txBody>
                    <a:bodyPr/>
                    <a:lstStyle/>
                    <a:p>
                      <a:pPr marL="0" marR="0" algn="just">
                        <a:lnSpc>
                          <a:spcPct val="107000"/>
                        </a:lnSpc>
                        <a:spcBef>
                          <a:spcPts val="0"/>
                        </a:spcBef>
                        <a:spcAft>
                          <a:spcPts val="0"/>
                        </a:spcAft>
                      </a:pPr>
                      <a:r>
                        <a:rPr lang="en-US" sz="1200" b="1">
                          <a:effectLst/>
                        </a:rPr>
                        <a:t>GDP_PI</a:t>
                      </a:r>
                      <a:endParaRPr lang="en-US" sz="1200" b="1">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b="1" dirty="0">
                          <a:effectLst/>
                        </a:rPr>
                        <a:t>Annual GDP Private Investment per county </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3469983196"/>
                  </a:ext>
                </a:extLst>
              </a:tr>
              <a:tr h="333230">
                <a:tc>
                  <a:txBody>
                    <a:bodyPr/>
                    <a:lstStyle/>
                    <a:p>
                      <a:pPr marL="0" marR="0" algn="just">
                        <a:lnSpc>
                          <a:spcPct val="107000"/>
                        </a:lnSpc>
                        <a:spcBef>
                          <a:spcPts val="0"/>
                        </a:spcBef>
                        <a:spcAft>
                          <a:spcPts val="0"/>
                        </a:spcAft>
                      </a:pPr>
                      <a:r>
                        <a:rPr lang="en-US" sz="1200" b="1" dirty="0" err="1">
                          <a:effectLst/>
                        </a:rPr>
                        <a:t>Housing_Units</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b="1" dirty="0">
                          <a:effectLst/>
                        </a:rPr>
                        <a:t>Total number of available housing units per county for the given year.</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3124282531"/>
                  </a:ext>
                </a:extLst>
              </a:tr>
              <a:tr h="333230">
                <a:tc>
                  <a:txBody>
                    <a:bodyPr/>
                    <a:lstStyle/>
                    <a:p>
                      <a:pPr marL="0" marR="0" algn="just">
                        <a:lnSpc>
                          <a:spcPct val="107000"/>
                        </a:lnSpc>
                        <a:spcBef>
                          <a:spcPts val="0"/>
                        </a:spcBef>
                        <a:spcAft>
                          <a:spcPts val="0"/>
                        </a:spcAft>
                      </a:pPr>
                      <a:r>
                        <a:rPr lang="en-US" sz="1200" b="1" dirty="0" err="1">
                          <a:effectLst/>
                        </a:rPr>
                        <a:t>Personal_Income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tc>
                  <a:txBody>
                    <a:bodyPr/>
                    <a:lstStyle/>
                    <a:p>
                      <a:pPr marL="0" marR="0" algn="just">
                        <a:lnSpc>
                          <a:spcPct val="107000"/>
                        </a:lnSpc>
                        <a:spcBef>
                          <a:spcPts val="0"/>
                        </a:spcBef>
                        <a:spcAft>
                          <a:spcPts val="0"/>
                        </a:spcAft>
                      </a:pPr>
                      <a:r>
                        <a:rPr lang="en-US" sz="1200" b="1" dirty="0">
                          <a:effectLst/>
                        </a:rPr>
                        <a:t>Average personal income per county for the given year.</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59852" marR="59852" marT="0" marB="0" anchor="ctr"/>
                </a:tc>
                <a:extLst>
                  <a:ext uri="{0D108BD9-81ED-4DB2-BD59-A6C34878D82A}">
                    <a16:rowId xmlns:a16="http://schemas.microsoft.com/office/drawing/2014/main" val="242413085"/>
                  </a:ext>
                </a:extLst>
              </a:tr>
              <a:tr h="333230">
                <a:tc>
                  <a:txBody>
                    <a:bodyPr/>
                    <a:lstStyle/>
                    <a:p>
                      <a:pPr marL="0" marR="0" algn="just">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House Size</a:t>
                      </a:r>
                    </a:p>
                  </a:txBody>
                  <a:tcPr marL="59852" marR="59852" marT="0" marB="0" anchor="ctr"/>
                </a:tc>
                <a:tc>
                  <a:txBody>
                    <a:bodyPr/>
                    <a:lstStyle/>
                    <a:p>
                      <a:pPr marL="0" marR="0" algn="just">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Feature engineered through the conversion of the data from wide format (with rent for different house types as separate column) to long format with a column for house size and a new column for rent. </a:t>
                      </a:r>
                    </a:p>
                  </a:txBody>
                  <a:tcPr marL="59852" marR="59852" marT="0" marB="0" anchor="ctr"/>
                </a:tc>
                <a:extLst>
                  <a:ext uri="{0D108BD9-81ED-4DB2-BD59-A6C34878D82A}">
                    <a16:rowId xmlns:a16="http://schemas.microsoft.com/office/drawing/2014/main" val="1788579332"/>
                  </a:ext>
                </a:extLst>
              </a:tr>
              <a:tr h="333230">
                <a:tc>
                  <a:txBody>
                    <a:bodyPr/>
                    <a:lstStyle/>
                    <a:p>
                      <a:pPr marL="0" marR="0" algn="just">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Rent</a:t>
                      </a:r>
                    </a:p>
                  </a:txBody>
                  <a:tcPr marL="59852" marR="59852" marT="0" marB="0" anchor="ct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200" b="1" dirty="0">
                          <a:effectLst/>
                          <a:latin typeface="Calibri" panose="020F0502020204030204" pitchFamily="34" charset="0"/>
                          <a:ea typeface="Calibri" panose="020F0502020204030204" pitchFamily="34" charset="0"/>
                          <a:cs typeface="Times New Roman" panose="02020603050405020304" pitchFamily="18" charset="0"/>
                        </a:rPr>
                        <a:t>Feature engineered through the conversion of the data from wide format (with rent for different house types as separate column) to long format with a column for house size and a new column for rent. </a:t>
                      </a:r>
                    </a:p>
                  </a:txBody>
                  <a:tcPr marL="59852" marR="59852" marT="0" marB="0" anchor="ctr"/>
                </a:tc>
                <a:extLst>
                  <a:ext uri="{0D108BD9-81ED-4DB2-BD59-A6C34878D82A}">
                    <a16:rowId xmlns:a16="http://schemas.microsoft.com/office/drawing/2014/main" val="148427377"/>
                  </a:ext>
                </a:extLst>
              </a:tr>
              <a:tr h="333230">
                <a:tc>
                  <a:txBody>
                    <a:bodyPr/>
                    <a:lstStyle/>
                    <a:p>
                      <a:pPr marL="0" marR="0" algn="just">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Rent Growth</a:t>
                      </a:r>
                    </a:p>
                  </a:txBody>
                  <a:tcPr marL="59852" marR="59852" marT="0" marB="0" anchor="ctr"/>
                </a:tc>
                <a:tc>
                  <a:txBody>
                    <a:bodyPr/>
                    <a:lstStyle/>
                    <a:p>
                      <a:pPr marL="0" marR="0" algn="just">
                        <a:lnSpc>
                          <a:spcPct val="107000"/>
                        </a:lnSpc>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Feature engineered as the annual percentage change in the rent price computed by year, county and house size used in spatial analysis. </a:t>
                      </a:r>
                    </a:p>
                  </a:txBody>
                  <a:tcPr marL="59852" marR="59852" marT="0" marB="0" anchor="ctr"/>
                </a:tc>
                <a:extLst>
                  <a:ext uri="{0D108BD9-81ED-4DB2-BD59-A6C34878D82A}">
                    <a16:rowId xmlns:a16="http://schemas.microsoft.com/office/drawing/2014/main" val="2242780065"/>
                  </a:ext>
                </a:extLst>
              </a:tr>
            </a:tbl>
          </a:graphicData>
        </a:graphic>
      </p:graphicFrame>
      <p:sp>
        <p:nvSpPr>
          <p:cNvPr id="5" name="Slide Number Placeholder 4">
            <a:extLst>
              <a:ext uri="{FF2B5EF4-FFF2-40B4-BE49-F238E27FC236}">
                <a16:creationId xmlns:a16="http://schemas.microsoft.com/office/drawing/2014/main" id="{D74B6926-C33A-41C1-B75B-BBDB4487F348}"/>
              </a:ext>
            </a:extLst>
          </p:cNvPr>
          <p:cNvSpPr>
            <a:spLocks noGrp="1"/>
          </p:cNvSpPr>
          <p:nvPr>
            <p:ph type="sldNum" sz="quarter" idx="12"/>
          </p:nvPr>
        </p:nvSpPr>
        <p:spPr/>
        <p:txBody>
          <a:bodyPr/>
          <a:lstStyle/>
          <a:p>
            <a:fld id="{71E90E32-7D5C-4934-A26B-D6DD83B0CD6B}" type="slidenum">
              <a:rPr lang="en-US" smtClean="0"/>
              <a:t>5</a:t>
            </a:fld>
            <a:endParaRPr lang="en-US"/>
          </a:p>
        </p:txBody>
      </p:sp>
    </p:spTree>
    <p:extLst>
      <p:ext uri="{BB962C8B-B14F-4D97-AF65-F5344CB8AC3E}">
        <p14:creationId xmlns:p14="http://schemas.microsoft.com/office/powerpoint/2010/main" val="3443571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7EDD-9A90-47B9-B0F1-B0A80866A4E7}"/>
              </a:ext>
            </a:extLst>
          </p:cNvPr>
          <p:cNvSpPr>
            <a:spLocks noGrp="1"/>
          </p:cNvSpPr>
          <p:nvPr>
            <p:ph type="title"/>
          </p:nvPr>
        </p:nvSpPr>
        <p:spPr/>
        <p:txBody>
          <a:bodyPr>
            <a:normAutofit/>
          </a:bodyPr>
          <a:lstStyle/>
          <a:p>
            <a:r>
              <a:rPr lang="en-US" sz="3200" dirty="0">
                <a:latin typeface="Bahnschrift Condensed" panose="020B0502040204020203" pitchFamily="34" charset="0"/>
              </a:rPr>
              <a:t>Data: Sources, Features and Feature Engineering</a:t>
            </a:r>
          </a:p>
        </p:txBody>
      </p:sp>
      <p:sp>
        <p:nvSpPr>
          <p:cNvPr id="10" name="Content Placeholder 9">
            <a:extLst>
              <a:ext uri="{FF2B5EF4-FFF2-40B4-BE49-F238E27FC236}">
                <a16:creationId xmlns:a16="http://schemas.microsoft.com/office/drawing/2014/main" id="{5EA6F95A-B690-4468-9E38-27EBEC345696}"/>
              </a:ext>
            </a:extLst>
          </p:cNvPr>
          <p:cNvSpPr>
            <a:spLocks noGrp="1"/>
          </p:cNvSpPr>
          <p:nvPr>
            <p:ph idx="1"/>
          </p:nvPr>
        </p:nvSpPr>
        <p:spPr/>
        <p:txBody>
          <a:bodyPr>
            <a:normAutofit fontScale="92500" lnSpcReduction="20000"/>
          </a:bodyPr>
          <a:lstStyle/>
          <a:p>
            <a:r>
              <a:rPr lang="en-US" i="1" dirty="0"/>
              <a:t>GDP_PI:</a:t>
            </a:r>
            <a:r>
              <a:rPr lang="en-US" dirty="0"/>
              <a:t> Provides information on the injection of investment across the counties in the state; hence variation in this variable represented variation in the amount of investment injected into the local economies in the counties. </a:t>
            </a:r>
          </a:p>
          <a:p>
            <a:r>
              <a:rPr lang="en-US" i="1" dirty="0"/>
              <a:t>Housing Units:</a:t>
            </a:r>
            <a:r>
              <a:rPr lang="en-US" dirty="0"/>
              <a:t> Served as an indicator of the demand-pull driver of rent inflation. </a:t>
            </a:r>
          </a:p>
          <a:p>
            <a:r>
              <a:rPr lang="en-US" i="1" dirty="0"/>
              <a:t>Personal Income:</a:t>
            </a:r>
            <a:r>
              <a:rPr lang="en-US" dirty="0"/>
              <a:t> Served as an indictor of demand-pull in terms of the ability of the customers in the housing market to afford rent in a given county. </a:t>
            </a:r>
          </a:p>
          <a:p>
            <a:r>
              <a:rPr lang="en-US" i="1" dirty="0"/>
              <a:t>House Size:</a:t>
            </a:r>
            <a:r>
              <a:rPr lang="en-US" dirty="0"/>
              <a:t> Served as an indicator of the cost push factors in terms of the associated costs for different house sizes. </a:t>
            </a:r>
          </a:p>
          <a:p>
            <a:r>
              <a:rPr lang="en-US" i="1" dirty="0"/>
              <a:t>Rent </a:t>
            </a:r>
            <a:r>
              <a:rPr lang="en-US" dirty="0"/>
              <a:t>gives variations in the house rents providing an indication of rent inflation and hence formed the target variable. </a:t>
            </a:r>
          </a:p>
          <a:p>
            <a:endParaRPr lang="en-US" dirty="0"/>
          </a:p>
        </p:txBody>
      </p:sp>
      <p:sp>
        <p:nvSpPr>
          <p:cNvPr id="5" name="Slide Number Placeholder 4">
            <a:extLst>
              <a:ext uri="{FF2B5EF4-FFF2-40B4-BE49-F238E27FC236}">
                <a16:creationId xmlns:a16="http://schemas.microsoft.com/office/drawing/2014/main" id="{D74B6926-C33A-41C1-B75B-BBDB4487F348}"/>
              </a:ext>
            </a:extLst>
          </p:cNvPr>
          <p:cNvSpPr>
            <a:spLocks noGrp="1"/>
          </p:cNvSpPr>
          <p:nvPr>
            <p:ph type="sldNum" sz="quarter" idx="12"/>
          </p:nvPr>
        </p:nvSpPr>
        <p:spPr/>
        <p:txBody>
          <a:bodyPr/>
          <a:lstStyle/>
          <a:p>
            <a:fld id="{71E90E32-7D5C-4934-A26B-D6DD83B0CD6B}" type="slidenum">
              <a:rPr lang="en-US" smtClean="0"/>
              <a:t>6</a:t>
            </a:fld>
            <a:endParaRPr lang="en-US"/>
          </a:p>
        </p:txBody>
      </p:sp>
    </p:spTree>
    <p:extLst>
      <p:ext uri="{BB962C8B-B14F-4D97-AF65-F5344CB8AC3E}">
        <p14:creationId xmlns:p14="http://schemas.microsoft.com/office/powerpoint/2010/main" val="905298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4F1A8-31D4-47B0-9E6D-B76724ECFAEE}"/>
              </a:ext>
            </a:extLst>
          </p:cNvPr>
          <p:cNvSpPr>
            <a:spLocks noGrp="1"/>
          </p:cNvSpPr>
          <p:nvPr>
            <p:ph type="title"/>
          </p:nvPr>
        </p:nvSpPr>
        <p:spPr>
          <a:xfrm>
            <a:off x="838200" y="8058"/>
            <a:ext cx="10515600" cy="1325563"/>
          </a:xfrm>
        </p:spPr>
        <p:txBody>
          <a:bodyPr>
            <a:normAutofit/>
          </a:bodyPr>
          <a:lstStyle/>
          <a:p>
            <a:r>
              <a:rPr lang="en-US" sz="2400" dirty="0">
                <a:latin typeface="Bahnschrift Condensed" panose="020B0502040204020203" pitchFamily="34" charset="0"/>
              </a:rPr>
              <a:t>Methodology: Model Architecture: Diffusion Modelling - </a:t>
            </a:r>
            <a:r>
              <a:rPr lang="en-US" sz="2400" dirty="0" err="1">
                <a:latin typeface="Bahnschrift Condensed" panose="020B0502040204020203" pitchFamily="34" charset="0"/>
              </a:rPr>
              <a:t>ConvLSTM</a:t>
            </a:r>
            <a:r>
              <a:rPr lang="en-US" sz="2400" dirty="0">
                <a:latin typeface="Bahnschrift Condensed" panose="020B0502040204020203" pitchFamily="34" charset="0"/>
              </a:rPr>
              <a:t>(Inputs and Hidden States)</a:t>
            </a:r>
            <a:endParaRPr lang="en-US" sz="2400" dirty="0"/>
          </a:p>
        </p:txBody>
      </p:sp>
      <p:sp>
        <p:nvSpPr>
          <p:cNvPr id="4" name="Slide Number Placeholder 3">
            <a:extLst>
              <a:ext uri="{FF2B5EF4-FFF2-40B4-BE49-F238E27FC236}">
                <a16:creationId xmlns:a16="http://schemas.microsoft.com/office/drawing/2014/main" id="{223FBC64-3389-4FE3-BA0F-1CFA05E22883}"/>
              </a:ext>
            </a:extLst>
          </p:cNvPr>
          <p:cNvSpPr>
            <a:spLocks noGrp="1"/>
          </p:cNvSpPr>
          <p:nvPr>
            <p:ph type="sldNum" sz="quarter" idx="12"/>
          </p:nvPr>
        </p:nvSpPr>
        <p:spPr/>
        <p:txBody>
          <a:bodyPr/>
          <a:lstStyle/>
          <a:p>
            <a:fld id="{71E90E32-7D5C-4934-A26B-D6DD83B0CD6B}" type="slidenum">
              <a:rPr lang="en-US" smtClean="0"/>
              <a:t>7</a:t>
            </a:fld>
            <a:endParaRPr lang="en-US"/>
          </a:p>
        </p:txBody>
      </p:sp>
      <p:sp>
        <p:nvSpPr>
          <p:cNvPr id="3" name="TextBox 2">
            <a:extLst>
              <a:ext uri="{FF2B5EF4-FFF2-40B4-BE49-F238E27FC236}">
                <a16:creationId xmlns:a16="http://schemas.microsoft.com/office/drawing/2014/main" id="{26DB7860-2270-42D5-A208-B3025C62D7F7}"/>
              </a:ext>
            </a:extLst>
          </p:cNvPr>
          <p:cNvSpPr txBox="1"/>
          <p:nvPr/>
        </p:nvSpPr>
        <p:spPr>
          <a:xfrm>
            <a:off x="401786" y="4093662"/>
            <a:ext cx="11388430" cy="2554545"/>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a:t>
            </a:r>
            <a:r>
              <a:rPr lang="en-US" sz="2000" dirty="0" err="1"/>
              <a:t>ConvLSTM</a:t>
            </a:r>
            <a:r>
              <a:rPr lang="en-US" sz="2000" dirty="0"/>
              <a:t> model architecture consists of inputs, spatial-temporal grid, 2 hidden states, output and the loss optimization.</a:t>
            </a:r>
          </a:p>
          <a:p>
            <a:pPr marL="285750" indent="-285750">
              <a:buFont typeface="Arial" panose="020B0604020202020204" pitchFamily="34" charset="0"/>
              <a:buChar char="•"/>
            </a:pPr>
            <a:r>
              <a:rPr lang="en-US" sz="2000" dirty="0"/>
              <a:t>The input layer shown above consists of the 4 input variables (GDP_PI, Personal Income, Housing Units and House size) staked together into a feature tensor for the model.</a:t>
            </a:r>
          </a:p>
          <a:p>
            <a:pPr marL="285750" indent="-285750">
              <a:buFont typeface="Arial" panose="020B0604020202020204" pitchFamily="34" charset="0"/>
              <a:buChar char="•"/>
            </a:pPr>
            <a:r>
              <a:rPr lang="en-US" sz="2000" dirty="0"/>
              <a:t>The spatial-temporal grid (8x8) connects the inputs layer with the hidden layers and it arranges the data by county over time. </a:t>
            </a:r>
          </a:p>
          <a:p>
            <a:pPr marL="285750" indent="-285750">
              <a:buFont typeface="Arial" panose="020B0604020202020204" pitchFamily="34" charset="0"/>
              <a:buChar char="•"/>
            </a:pPr>
            <a:r>
              <a:rPr lang="en-US" sz="2000" dirty="0"/>
              <a:t>2 hidden states exist in the hidden layer corresponding to 2 timestamps that correspond to 2 lags in the data. </a:t>
            </a:r>
          </a:p>
        </p:txBody>
      </p:sp>
      <p:pic>
        <p:nvPicPr>
          <p:cNvPr id="13" name="Content Placeholder 12">
            <a:extLst>
              <a:ext uri="{FF2B5EF4-FFF2-40B4-BE49-F238E27FC236}">
                <a16:creationId xmlns:a16="http://schemas.microsoft.com/office/drawing/2014/main" id="{73DA4ECA-929D-4D39-B150-AE11EE4CF90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 r="37957"/>
          <a:stretch/>
        </p:blipFill>
        <p:spPr>
          <a:xfrm>
            <a:off x="1189121" y="1199376"/>
            <a:ext cx="9813757" cy="2565574"/>
          </a:xfrm>
        </p:spPr>
      </p:pic>
    </p:spTree>
    <p:extLst>
      <p:ext uri="{BB962C8B-B14F-4D97-AF65-F5344CB8AC3E}">
        <p14:creationId xmlns:p14="http://schemas.microsoft.com/office/powerpoint/2010/main" val="243787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4F1A8-31D4-47B0-9E6D-B76724ECFAEE}"/>
              </a:ext>
            </a:extLst>
          </p:cNvPr>
          <p:cNvSpPr>
            <a:spLocks noGrp="1"/>
          </p:cNvSpPr>
          <p:nvPr>
            <p:ph type="title"/>
          </p:nvPr>
        </p:nvSpPr>
        <p:spPr>
          <a:xfrm>
            <a:off x="838200" y="8066"/>
            <a:ext cx="10515600" cy="1325563"/>
          </a:xfrm>
        </p:spPr>
        <p:txBody>
          <a:bodyPr>
            <a:normAutofit/>
          </a:bodyPr>
          <a:lstStyle/>
          <a:p>
            <a:r>
              <a:rPr lang="en-US" sz="2400" dirty="0">
                <a:latin typeface="Bahnschrift Condensed" panose="020B0502040204020203" pitchFamily="34" charset="0"/>
              </a:rPr>
              <a:t>Methodology Model Architecture: Diffusion Modeling - </a:t>
            </a:r>
            <a:r>
              <a:rPr lang="en-US" sz="2400" dirty="0" err="1">
                <a:latin typeface="Bahnschrift Condensed" panose="020B0502040204020203" pitchFamily="34" charset="0"/>
              </a:rPr>
              <a:t>ConvLSTM</a:t>
            </a:r>
            <a:r>
              <a:rPr lang="en-US" sz="2400" dirty="0">
                <a:latin typeface="Bahnschrift Condensed" panose="020B0502040204020203" pitchFamily="34" charset="0"/>
              </a:rPr>
              <a:t> (Outputs and Loss Optimization)</a:t>
            </a:r>
            <a:endParaRPr lang="en-US" sz="2400" dirty="0"/>
          </a:p>
        </p:txBody>
      </p:sp>
      <p:sp>
        <p:nvSpPr>
          <p:cNvPr id="4" name="Slide Number Placeholder 3">
            <a:extLst>
              <a:ext uri="{FF2B5EF4-FFF2-40B4-BE49-F238E27FC236}">
                <a16:creationId xmlns:a16="http://schemas.microsoft.com/office/drawing/2014/main" id="{223FBC64-3389-4FE3-BA0F-1CFA05E22883}"/>
              </a:ext>
            </a:extLst>
          </p:cNvPr>
          <p:cNvSpPr>
            <a:spLocks noGrp="1"/>
          </p:cNvSpPr>
          <p:nvPr>
            <p:ph type="sldNum" sz="quarter" idx="12"/>
          </p:nvPr>
        </p:nvSpPr>
        <p:spPr/>
        <p:txBody>
          <a:bodyPr/>
          <a:lstStyle/>
          <a:p>
            <a:fld id="{71E90E32-7D5C-4934-A26B-D6DD83B0CD6B}" type="slidenum">
              <a:rPr lang="en-US" smtClean="0"/>
              <a:t>8</a:t>
            </a:fld>
            <a:endParaRPr lang="en-US"/>
          </a:p>
        </p:txBody>
      </p:sp>
      <p:sp>
        <p:nvSpPr>
          <p:cNvPr id="5" name="TextBox 4">
            <a:extLst>
              <a:ext uri="{FF2B5EF4-FFF2-40B4-BE49-F238E27FC236}">
                <a16:creationId xmlns:a16="http://schemas.microsoft.com/office/drawing/2014/main" id="{8156CBCE-E03E-4960-82E4-A391855D0366}"/>
              </a:ext>
            </a:extLst>
          </p:cNvPr>
          <p:cNvSpPr txBox="1"/>
          <p:nvPr/>
        </p:nvSpPr>
        <p:spPr>
          <a:xfrm>
            <a:off x="401785" y="4620166"/>
            <a:ext cx="11388430"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Output layer outputs the predicted percentage rent for each of the 2 timestamps from the hidden layer.</a:t>
            </a:r>
          </a:p>
          <a:p>
            <a:pPr marL="285750" indent="-285750">
              <a:buFont typeface="Arial" panose="020B0604020202020204" pitchFamily="34" charset="0"/>
              <a:buChar char="•"/>
            </a:pPr>
            <a:r>
              <a:rPr lang="en-US" sz="2000" dirty="0"/>
              <a:t>Loss optimization is then applied in the loss optimization layer using the Adam Optimizer with the Huber(combined MAE and MSE) Loss computed for predicted vs actual across the predictions for 2 timestamps from the output layer. </a:t>
            </a:r>
          </a:p>
        </p:txBody>
      </p:sp>
      <p:pic>
        <p:nvPicPr>
          <p:cNvPr id="13" name="Content Placeholder 12">
            <a:extLst>
              <a:ext uri="{FF2B5EF4-FFF2-40B4-BE49-F238E27FC236}">
                <a16:creationId xmlns:a16="http://schemas.microsoft.com/office/drawing/2014/main" id="{8AD4C7A6-889D-47A0-8D7C-5FB4E73E2365}"/>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62853"/>
          <a:stretch/>
        </p:blipFill>
        <p:spPr>
          <a:xfrm>
            <a:off x="2494313" y="1300638"/>
            <a:ext cx="7203374" cy="3214560"/>
          </a:xfrm>
        </p:spPr>
      </p:pic>
    </p:spTree>
    <p:extLst>
      <p:ext uri="{BB962C8B-B14F-4D97-AF65-F5344CB8AC3E}">
        <p14:creationId xmlns:p14="http://schemas.microsoft.com/office/powerpoint/2010/main" val="1027306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A6BA027-6CED-474B-99FD-0BD23B2ACC06}"/>
              </a:ext>
            </a:extLst>
          </p:cNvPr>
          <p:cNvSpPr>
            <a:spLocks noGrp="1"/>
          </p:cNvSpPr>
          <p:nvPr>
            <p:ph type="title"/>
          </p:nvPr>
        </p:nvSpPr>
        <p:spPr>
          <a:xfrm>
            <a:off x="839788" y="5555"/>
            <a:ext cx="10515600" cy="1325563"/>
          </a:xfrm>
        </p:spPr>
        <p:txBody>
          <a:bodyPr>
            <a:normAutofit/>
          </a:bodyPr>
          <a:lstStyle/>
          <a:p>
            <a:r>
              <a:rPr lang="en-US" sz="2400" dirty="0">
                <a:latin typeface="Bahnschrift Condensed" panose="020B0502040204020203" pitchFamily="34" charset="0"/>
              </a:rPr>
              <a:t>Methodology Model Architecture: Time Series Modeling - XGBoost and LSTM</a:t>
            </a:r>
            <a:endParaRPr lang="en-US" sz="2400" dirty="0"/>
          </a:p>
        </p:txBody>
      </p:sp>
      <p:sp>
        <p:nvSpPr>
          <p:cNvPr id="10" name="Text Placeholder 9">
            <a:extLst>
              <a:ext uri="{FF2B5EF4-FFF2-40B4-BE49-F238E27FC236}">
                <a16:creationId xmlns:a16="http://schemas.microsoft.com/office/drawing/2014/main" id="{9C93F24D-4D2E-4BF8-ABA6-0F5191570734}"/>
              </a:ext>
            </a:extLst>
          </p:cNvPr>
          <p:cNvSpPr>
            <a:spLocks noGrp="1"/>
          </p:cNvSpPr>
          <p:nvPr>
            <p:ph type="body" idx="1"/>
          </p:nvPr>
        </p:nvSpPr>
        <p:spPr>
          <a:xfrm>
            <a:off x="839788" y="1622761"/>
            <a:ext cx="5157787" cy="449852"/>
          </a:xfrm>
        </p:spPr>
        <p:txBody>
          <a:bodyPr/>
          <a:lstStyle/>
          <a:p>
            <a:pPr algn="ctr"/>
            <a:r>
              <a:rPr lang="en-US" dirty="0"/>
              <a:t>XGBoost Model</a:t>
            </a:r>
          </a:p>
        </p:txBody>
      </p:sp>
      <p:sp>
        <p:nvSpPr>
          <p:cNvPr id="11" name="Text Placeholder 10">
            <a:extLst>
              <a:ext uri="{FF2B5EF4-FFF2-40B4-BE49-F238E27FC236}">
                <a16:creationId xmlns:a16="http://schemas.microsoft.com/office/drawing/2014/main" id="{9B10D4BC-C3F3-4B42-AE8E-184CFADA3914}"/>
              </a:ext>
            </a:extLst>
          </p:cNvPr>
          <p:cNvSpPr>
            <a:spLocks noGrp="1"/>
          </p:cNvSpPr>
          <p:nvPr>
            <p:ph type="body" sz="quarter" idx="3"/>
          </p:nvPr>
        </p:nvSpPr>
        <p:spPr>
          <a:xfrm>
            <a:off x="6169024" y="1587069"/>
            <a:ext cx="5183188" cy="510812"/>
          </a:xfrm>
        </p:spPr>
        <p:txBody>
          <a:bodyPr/>
          <a:lstStyle/>
          <a:p>
            <a:pPr algn="ctr"/>
            <a:r>
              <a:rPr lang="en-US" dirty="0"/>
              <a:t>Long-Short Term Model (LSTM)</a:t>
            </a:r>
          </a:p>
        </p:txBody>
      </p:sp>
      <p:sp>
        <p:nvSpPr>
          <p:cNvPr id="4" name="Slide Number Placeholder 3">
            <a:extLst>
              <a:ext uri="{FF2B5EF4-FFF2-40B4-BE49-F238E27FC236}">
                <a16:creationId xmlns:a16="http://schemas.microsoft.com/office/drawing/2014/main" id="{4CAEFA6E-FA7B-4858-BC21-F4CCD00CADA3}"/>
              </a:ext>
            </a:extLst>
          </p:cNvPr>
          <p:cNvSpPr>
            <a:spLocks noGrp="1"/>
          </p:cNvSpPr>
          <p:nvPr>
            <p:ph type="sldNum" sz="quarter" idx="12"/>
          </p:nvPr>
        </p:nvSpPr>
        <p:spPr/>
        <p:txBody>
          <a:bodyPr/>
          <a:lstStyle/>
          <a:p>
            <a:fld id="{71E90E32-7D5C-4934-A26B-D6DD83B0CD6B}" type="slidenum">
              <a:rPr lang="en-US" smtClean="0"/>
              <a:t>9</a:t>
            </a:fld>
            <a:endParaRPr lang="en-US"/>
          </a:p>
        </p:txBody>
      </p:sp>
      <p:pic>
        <p:nvPicPr>
          <p:cNvPr id="8" name="Content Placeholder 7">
            <a:extLst>
              <a:ext uri="{FF2B5EF4-FFF2-40B4-BE49-F238E27FC236}">
                <a16:creationId xmlns:a16="http://schemas.microsoft.com/office/drawing/2014/main" id="{23ACF95A-CABE-4D7D-A121-BE5678E5F07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598201" y="2148801"/>
            <a:ext cx="1799627" cy="4040862"/>
          </a:xfrm>
        </p:spPr>
      </p:pic>
      <p:pic>
        <p:nvPicPr>
          <p:cNvPr id="17" name="Content Placeholder 16">
            <a:extLst>
              <a:ext uri="{FF2B5EF4-FFF2-40B4-BE49-F238E27FC236}">
                <a16:creationId xmlns:a16="http://schemas.microsoft.com/office/drawing/2014/main" id="{E52B2A4C-F0AD-442C-863C-C3B301C33E9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889967" y="2145323"/>
            <a:ext cx="1603516" cy="4040862"/>
          </a:xfrm>
        </p:spPr>
      </p:pic>
    </p:spTree>
    <p:extLst>
      <p:ext uri="{BB962C8B-B14F-4D97-AF65-F5344CB8AC3E}">
        <p14:creationId xmlns:p14="http://schemas.microsoft.com/office/powerpoint/2010/main" val="9751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FE771-9C61-4500-94E8-FCC5FE7474B5}"/>
              </a:ext>
            </a:extLst>
          </p:cNvPr>
          <p:cNvSpPr>
            <a:spLocks noGrp="1"/>
          </p:cNvSpPr>
          <p:nvPr>
            <p:ph type="title"/>
          </p:nvPr>
        </p:nvSpPr>
        <p:spPr>
          <a:xfrm>
            <a:off x="838200" y="0"/>
            <a:ext cx="10515600" cy="1325563"/>
          </a:xfrm>
        </p:spPr>
        <p:txBody>
          <a:bodyPr>
            <a:normAutofit/>
          </a:bodyPr>
          <a:lstStyle/>
          <a:p>
            <a:r>
              <a:rPr lang="en-US" sz="2400" dirty="0">
                <a:latin typeface="Bahnschrift Condensed" panose="020B0502040204020203" pitchFamily="34" charset="0"/>
              </a:rPr>
              <a:t>Methodology: Features,  Targets and Preprocessing</a:t>
            </a:r>
          </a:p>
        </p:txBody>
      </p:sp>
      <p:graphicFrame>
        <p:nvGraphicFramePr>
          <p:cNvPr id="9" name="Table 9">
            <a:extLst>
              <a:ext uri="{FF2B5EF4-FFF2-40B4-BE49-F238E27FC236}">
                <a16:creationId xmlns:a16="http://schemas.microsoft.com/office/drawing/2014/main" id="{0DF46E5E-7F54-488D-B28B-FFF56EBD2412}"/>
              </a:ext>
            </a:extLst>
          </p:cNvPr>
          <p:cNvGraphicFramePr>
            <a:graphicFrameLocks noGrp="1"/>
          </p:cNvGraphicFramePr>
          <p:nvPr>
            <p:ph idx="1"/>
            <p:extLst>
              <p:ext uri="{D42A27DB-BD31-4B8C-83A1-F6EECF244321}">
                <p14:modId xmlns:p14="http://schemas.microsoft.com/office/powerpoint/2010/main" val="2950602418"/>
              </p:ext>
            </p:extLst>
          </p:nvPr>
        </p:nvGraphicFramePr>
        <p:xfrm>
          <a:off x="829491" y="1005810"/>
          <a:ext cx="10515600" cy="5125720"/>
        </p:xfrm>
        <a:graphic>
          <a:graphicData uri="http://schemas.openxmlformats.org/drawingml/2006/table">
            <a:tbl>
              <a:tblPr firstRow="1" bandRow="1">
                <a:tableStyleId>{5C22544A-7EE6-4342-B048-85BDC9FD1C3A}</a:tableStyleId>
              </a:tblPr>
              <a:tblGrid>
                <a:gridCol w="1608667">
                  <a:extLst>
                    <a:ext uri="{9D8B030D-6E8A-4147-A177-3AD203B41FA5}">
                      <a16:colId xmlns:a16="http://schemas.microsoft.com/office/drawing/2014/main" val="532657465"/>
                    </a:ext>
                  </a:extLst>
                </a:gridCol>
                <a:gridCol w="3310466">
                  <a:extLst>
                    <a:ext uri="{9D8B030D-6E8A-4147-A177-3AD203B41FA5}">
                      <a16:colId xmlns:a16="http://schemas.microsoft.com/office/drawing/2014/main" val="2917287884"/>
                    </a:ext>
                  </a:extLst>
                </a:gridCol>
                <a:gridCol w="2967567">
                  <a:extLst>
                    <a:ext uri="{9D8B030D-6E8A-4147-A177-3AD203B41FA5}">
                      <a16:colId xmlns:a16="http://schemas.microsoft.com/office/drawing/2014/main" val="273157884"/>
                    </a:ext>
                  </a:extLst>
                </a:gridCol>
                <a:gridCol w="2628900">
                  <a:extLst>
                    <a:ext uri="{9D8B030D-6E8A-4147-A177-3AD203B41FA5}">
                      <a16:colId xmlns:a16="http://schemas.microsoft.com/office/drawing/2014/main" val="1061817362"/>
                    </a:ext>
                  </a:extLst>
                </a:gridCol>
              </a:tblGrid>
              <a:tr h="370840">
                <a:tc>
                  <a:txBody>
                    <a:bodyPr/>
                    <a:lstStyle/>
                    <a:p>
                      <a:endParaRPr lang="en-US" sz="1400" b="1" dirty="0"/>
                    </a:p>
                  </a:txBody>
                  <a:tcPr/>
                </a:tc>
                <a:tc>
                  <a:txBody>
                    <a:bodyPr/>
                    <a:lstStyle/>
                    <a:p>
                      <a:r>
                        <a:rPr lang="en-US" sz="1400" dirty="0" err="1"/>
                        <a:t>ConvLSTM</a:t>
                      </a:r>
                      <a:endParaRPr lang="en-US" sz="1400" dirty="0"/>
                    </a:p>
                  </a:txBody>
                  <a:tcPr/>
                </a:tc>
                <a:tc>
                  <a:txBody>
                    <a:bodyPr/>
                    <a:lstStyle/>
                    <a:p>
                      <a:r>
                        <a:rPr lang="en-US" sz="1400" dirty="0"/>
                        <a:t>XGBoost</a:t>
                      </a:r>
                    </a:p>
                  </a:txBody>
                  <a:tcPr/>
                </a:tc>
                <a:tc>
                  <a:txBody>
                    <a:bodyPr/>
                    <a:lstStyle/>
                    <a:p>
                      <a:r>
                        <a:rPr lang="en-US" sz="1400" dirty="0"/>
                        <a:t>LSTM</a:t>
                      </a:r>
                    </a:p>
                  </a:txBody>
                  <a:tcPr/>
                </a:tc>
                <a:extLst>
                  <a:ext uri="{0D108BD9-81ED-4DB2-BD59-A6C34878D82A}">
                    <a16:rowId xmlns:a16="http://schemas.microsoft.com/office/drawing/2014/main" val="2055650656"/>
                  </a:ext>
                </a:extLst>
              </a:tr>
              <a:tr h="370840">
                <a:tc>
                  <a:txBody>
                    <a:bodyPr/>
                    <a:lstStyle/>
                    <a:p>
                      <a:r>
                        <a:rPr lang="en-US" sz="1400" b="1" dirty="0"/>
                        <a:t>Target </a:t>
                      </a:r>
                    </a:p>
                  </a:txBody>
                  <a:tcPr/>
                </a:tc>
                <a:tc>
                  <a:txBody>
                    <a:bodyPr/>
                    <a:lstStyle/>
                    <a:p>
                      <a:r>
                        <a:rPr lang="en-US" sz="1400" b="0" dirty="0"/>
                        <a:t>Rent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Rent </a:t>
                      </a:r>
                    </a:p>
                    <a:p>
                      <a:endParaRPr lang="en-US" sz="14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Rent </a:t>
                      </a:r>
                    </a:p>
                    <a:p>
                      <a:endParaRPr lang="en-US" sz="1400" b="0" dirty="0"/>
                    </a:p>
                  </a:txBody>
                  <a:tcPr/>
                </a:tc>
                <a:extLst>
                  <a:ext uri="{0D108BD9-81ED-4DB2-BD59-A6C34878D82A}">
                    <a16:rowId xmlns:a16="http://schemas.microsoft.com/office/drawing/2014/main" val="612753548"/>
                  </a:ext>
                </a:extLst>
              </a:tr>
              <a:tr h="370840">
                <a:tc>
                  <a:txBody>
                    <a:bodyPr/>
                    <a:lstStyle/>
                    <a:p>
                      <a:r>
                        <a:rPr lang="en-US" sz="1400" b="1" dirty="0"/>
                        <a:t>Features</a:t>
                      </a:r>
                    </a:p>
                  </a:txBody>
                  <a:tcPr/>
                </a:tc>
                <a:tc>
                  <a:txBody>
                    <a:bodyPr/>
                    <a:lstStyle/>
                    <a:p>
                      <a:pPr marL="285750" indent="-285750">
                        <a:buFont typeface="Arial" panose="020B0604020202020204" pitchFamily="34" charset="0"/>
                        <a:buChar char="•"/>
                      </a:pPr>
                      <a:r>
                        <a:rPr lang="en-US" sz="1400" dirty="0"/>
                        <a:t>Spatial – Temporal Patterns (built into model)</a:t>
                      </a:r>
                    </a:p>
                    <a:p>
                      <a:pPr marL="285750" indent="-285750">
                        <a:buFont typeface="Arial" panose="020B0604020202020204" pitchFamily="34" charset="0"/>
                        <a:buChar char="•"/>
                      </a:pPr>
                      <a:r>
                        <a:rPr lang="en-US" sz="1400" dirty="0"/>
                        <a:t>GDP_PI</a:t>
                      </a:r>
                    </a:p>
                    <a:p>
                      <a:pPr marL="285750" indent="-285750">
                        <a:buFont typeface="Arial" panose="020B0604020202020204" pitchFamily="34" charset="0"/>
                        <a:buChar char="•"/>
                      </a:pPr>
                      <a:r>
                        <a:rPr lang="en-US" sz="1400" dirty="0"/>
                        <a:t>Personal Income</a:t>
                      </a:r>
                    </a:p>
                    <a:p>
                      <a:pPr marL="285750" indent="-285750">
                        <a:buFont typeface="Arial" panose="020B0604020202020204" pitchFamily="34" charset="0"/>
                        <a:buChar char="•"/>
                      </a:pPr>
                      <a:r>
                        <a:rPr lang="en-US" sz="1400" dirty="0"/>
                        <a:t>Housing Units</a:t>
                      </a:r>
                    </a:p>
                    <a:p>
                      <a:pPr marL="285750" indent="-285750">
                        <a:buFont typeface="Arial" panose="020B0604020202020204" pitchFamily="34" charset="0"/>
                        <a:buChar char="•"/>
                      </a:pPr>
                      <a:r>
                        <a:rPr lang="en-US" sz="1400" dirty="0"/>
                        <a:t>House Size</a:t>
                      </a:r>
                    </a:p>
                  </a:txBody>
                  <a:tcPr/>
                </a:tc>
                <a:tc>
                  <a:txBody>
                    <a:bodyPr/>
                    <a:lstStyle/>
                    <a:p>
                      <a:pPr marL="285750" indent="-285750">
                        <a:buFont typeface="Arial" panose="020B0604020202020204" pitchFamily="34" charset="0"/>
                        <a:buChar char="•"/>
                      </a:pPr>
                      <a:r>
                        <a:rPr lang="en-US" sz="1400" dirty="0"/>
                        <a:t>GDP_PI</a:t>
                      </a:r>
                    </a:p>
                    <a:p>
                      <a:pPr marL="285750" indent="-285750">
                        <a:buFont typeface="Arial" panose="020B0604020202020204" pitchFamily="34" charset="0"/>
                        <a:buChar char="•"/>
                      </a:pPr>
                      <a:r>
                        <a:rPr lang="en-US" sz="1400" dirty="0"/>
                        <a:t>Personal Income</a:t>
                      </a:r>
                    </a:p>
                    <a:p>
                      <a:pPr marL="285750" indent="-285750">
                        <a:buFont typeface="Arial" panose="020B0604020202020204" pitchFamily="34" charset="0"/>
                        <a:buChar char="•"/>
                      </a:pPr>
                      <a:r>
                        <a:rPr lang="en-US" sz="1400" dirty="0"/>
                        <a:t>Housing Units</a:t>
                      </a:r>
                    </a:p>
                    <a:p>
                      <a:pPr marL="285750" indent="-285750">
                        <a:buFont typeface="Arial" panose="020B0604020202020204" pitchFamily="34" charset="0"/>
                        <a:buChar char="•"/>
                      </a:pPr>
                      <a:r>
                        <a:rPr lang="en-US" sz="1400" dirty="0"/>
                        <a:t>House Size</a:t>
                      </a:r>
                    </a:p>
                    <a:p>
                      <a:pPr marL="285750" indent="-285750">
                        <a:buFont typeface="Arial" panose="020B0604020202020204" pitchFamily="34" charset="0"/>
                        <a:buChar char="•"/>
                      </a:pPr>
                      <a:r>
                        <a:rPr lang="en-US" sz="1400" dirty="0"/>
                        <a:t>Rent Lag 1</a:t>
                      </a:r>
                    </a:p>
                    <a:p>
                      <a:pPr marL="285750" indent="-285750">
                        <a:buFont typeface="Arial" panose="020B0604020202020204" pitchFamily="34" charset="0"/>
                        <a:buChar char="•"/>
                      </a:pPr>
                      <a:r>
                        <a:rPr lang="en-US" sz="1400" dirty="0"/>
                        <a:t>Rent Lag 2</a:t>
                      </a:r>
                    </a:p>
                    <a:p>
                      <a:endParaRPr lang="en-US" sz="1400" dirty="0"/>
                    </a:p>
                  </a:txBody>
                  <a:tcPr/>
                </a:tc>
                <a:tc>
                  <a:txBody>
                    <a:bodyPr/>
                    <a:lstStyle/>
                    <a:p>
                      <a:pPr marL="285750" indent="-285750">
                        <a:buFont typeface="Arial" panose="020B0604020202020204" pitchFamily="34" charset="0"/>
                        <a:buChar char="•"/>
                      </a:pPr>
                      <a:r>
                        <a:rPr lang="en-US" sz="1400" dirty="0"/>
                        <a:t>GDP_PI</a:t>
                      </a:r>
                    </a:p>
                    <a:p>
                      <a:pPr marL="285750" indent="-285750">
                        <a:buFont typeface="Arial" panose="020B0604020202020204" pitchFamily="34" charset="0"/>
                        <a:buChar char="•"/>
                      </a:pPr>
                      <a:r>
                        <a:rPr lang="en-US" sz="1400" dirty="0"/>
                        <a:t>Personal Income</a:t>
                      </a:r>
                    </a:p>
                    <a:p>
                      <a:pPr marL="285750" indent="-285750">
                        <a:buFont typeface="Arial" panose="020B0604020202020204" pitchFamily="34" charset="0"/>
                        <a:buChar char="•"/>
                      </a:pPr>
                      <a:r>
                        <a:rPr lang="en-US" sz="1400" dirty="0"/>
                        <a:t>Housing Units</a:t>
                      </a:r>
                    </a:p>
                    <a:p>
                      <a:pPr marL="285750" indent="-285750">
                        <a:buFont typeface="Arial" panose="020B0604020202020204" pitchFamily="34" charset="0"/>
                        <a:buChar char="•"/>
                      </a:pPr>
                      <a:r>
                        <a:rPr lang="en-US" sz="1400" dirty="0"/>
                        <a:t>House Size</a:t>
                      </a:r>
                    </a:p>
                    <a:p>
                      <a:pPr marL="285750" indent="-285750">
                        <a:buFont typeface="Arial" panose="020B0604020202020204" pitchFamily="34" charset="0"/>
                        <a:buChar char="•"/>
                      </a:pPr>
                      <a:r>
                        <a:rPr lang="en-US" sz="1400" dirty="0"/>
                        <a:t>Rent Lag 1</a:t>
                      </a:r>
                    </a:p>
                    <a:p>
                      <a:pPr marL="285750" indent="-285750">
                        <a:buFont typeface="Arial" panose="020B0604020202020204" pitchFamily="34" charset="0"/>
                        <a:buChar char="•"/>
                      </a:pPr>
                      <a:r>
                        <a:rPr lang="en-US" sz="1400" dirty="0"/>
                        <a:t>Rent Lag 2</a:t>
                      </a:r>
                    </a:p>
                    <a:p>
                      <a:endParaRPr lang="en-US" sz="1400" dirty="0"/>
                    </a:p>
                  </a:txBody>
                  <a:tcPr/>
                </a:tc>
                <a:extLst>
                  <a:ext uri="{0D108BD9-81ED-4DB2-BD59-A6C34878D82A}">
                    <a16:rowId xmlns:a16="http://schemas.microsoft.com/office/drawing/2014/main" val="3564457231"/>
                  </a:ext>
                </a:extLst>
              </a:tr>
              <a:tr h="370840">
                <a:tc>
                  <a:txBody>
                    <a:bodyPr/>
                    <a:lstStyle/>
                    <a:p>
                      <a:r>
                        <a:rPr lang="en-US" sz="1400" b="1" dirty="0"/>
                        <a:t>Data Preprocessing</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Building Spatial Weights (County Neighborhood Structure) using Queen’s Contiguity Weights.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Spatial Grid creation using PCA embeddings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Time-based Data Partitioning at year = 2015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Normalizing the data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Sequence Creation (length = 2)</a:t>
                      </a:r>
                    </a:p>
                    <a:p>
                      <a:pPr marL="285750" indent="-285750">
                        <a:buFont typeface="Arial" panose="020B0604020202020204" pitchFamily="34" charset="0"/>
                        <a:buChar char="•"/>
                      </a:pPr>
                      <a:endParaRPr lang="en-US" sz="14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Shifting the rent variable by 1 year to create lag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Shifting the rent variable by 2 years to create lag 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Time-based Data Partitioning at year = 2015</a:t>
                      </a:r>
                    </a:p>
                    <a:p>
                      <a:endParaRPr lang="en-US" sz="14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Shifting the rent variable by 1 to create lag 1</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Shifting the rent variable by 2 to create lag 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Time-based Data Partitioning at year = 2015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Normalizing the data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schemeClr val="dk1"/>
                          </a:solidFill>
                          <a:effectLst/>
                          <a:latin typeface="+mn-lt"/>
                          <a:ea typeface="+mn-ea"/>
                          <a:cs typeface="+mn-cs"/>
                        </a:rPr>
                        <a:t>Sequence Creation (length = 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b="0" kern="1200" dirty="0">
                        <a:solidFill>
                          <a:schemeClr val="dk1"/>
                        </a:solidFill>
                        <a:effectLst/>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b="0" kern="1200" dirty="0">
                        <a:solidFill>
                          <a:schemeClr val="dk1"/>
                        </a:solidFill>
                        <a:effectLst/>
                        <a:latin typeface="+mn-lt"/>
                        <a:ea typeface="+mn-ea"/>
                        <a:cs typeface="+mn-cs"/>
                      </a:endParaRPr>
                    </a:p>
                    <a:p>
                      <a:endParaRPr lang="en-US" sz="1400" dirty="0"/>
                    </a:p>
                  </a:txBody>
                  <a:tcPr/>
                </a:tc>
                <a:extLst>
                  <a:ext uri="{0D108BD9-81ED-4DB2-BD59-A6C34878D82A}">
                    <a16:rowId xmlns:a16="http://schemas.microsoft.com/office/drawing/2014/main" val="665964841"/>
                  </a:ext>
                </a:extLst>
              </a:tr>
            </a:tbl>
          </a:graphicData>
        </a:graphic>
      </p:graphicFrame>
      <p:sp>
        <p:nvSpPr>
          <p:cNvPr id="7" name="Slide Number Placeholder 6">
            <a:extLst>
              <a:ext uri="{FF2B5EF4-FFF2-40B4-BE49-F238E27FC236}">
                <a16:creationId xmlns:a16="http://schemas.microsoft.com/office/drawing/2014/main" id="{524907A0-1CA1-4EE0-8C24-BDE87FF488D5}"/>
              </a:ext>
            </a:extLst>
          </p:cNvPr>
          <p:cNvSpPr>
            <a:spLocks noGrp="1"/>
          </p:cNvSpPr>
          <p:nvPr>
            <p:ph type="sldNum" sz="quarter" idx="12"/>
          </p:nvPr>
        </p:nvSpPr>
        <p:spPr/>
        <p:txBody>
          <a:bodyPr/>
          <a:lstStyle/>
          <a:p>
            <a:fld id="{71E90E32-7D5C-4934-A26B-D6DD83B0CD6B}" type="slidenum">
              <a:rPr lang="en-US" smtClean="0"/>
              <a:t>10</a:t>
            </a:fld>
            <a:endParaRPr lang="en-US"/>
          </a:p>
        </p:txBody>
      </p:sp>
    </p:spTree>
    <p:extLst>
      <p:ext uri="{BB962C8B-B14F-4D97-AF65-F5344CB8AC3E}">
        <p14:creationId xmlns:p14="http://schemas.microsoft.com/office/powerpoint/2010/main" val="3976412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6CF67-8165-41E4-905B-804AD18F692E}"/>
              </a:ext>
            </a:extLst>
          </p:cNvPr>
          <p:cNvSpPr>
            <a:spLocks noGrp="1"/>
          </p:cNvSpPr>
          <p:nvPr>
            <p:ph type="title"/>
          </p:nvPr>
        </p:nvSpPr>
        <p:spPr>
          <a:xfrm>
            <a:off x="269966" y="466387"/>
            <a:ext cx="2395051" cy="1754326"/>
          </a:xfrm>
        </p:spPr>
        <p:txBody>
          <a:bodyPr>
            <a:noAutofit/>
          </a:bodyPr>
          <a:lstStyle/>
          <a:p>
            <a:r>
              <a:rPr lang="en-US" dirty="0">
                <a:latin typeface="Bahnschrift Condensed" panose="020B0502040204020203" pitchFamily="34" charset="0"/>
              </a:rPr>
              <a:t>Exploratory Data Analysis</a:t>
            </a:r>
            <a:endParaRPr lang="en-US" dirty="0"/>
          </a:p>
        </p:txBody>
      </p:sp>
      <p:sp>
        <p:nvSpPr>
          <p:cNvPr id="5" name="Slide Number Placeholder 4">
            <a:extLst>
              <a:ext uri="{FF2B5EF4-FFF2-40B4-BE49-F238E27FC236}">
                <a16:creationId xmlns:a16="http://schemas.microsoft.com/office/drawing/2014/main" id="{B9ABA4CE-6CAC-493E-8588-FC309E408FAD}"/>
              </a:ext>
            </a:extLst>
          </p:cNvPr>
          <p:cNvSpPr>
            <a:spLocks noGrp="1"/>
          </p:cNvSpPr>
          <p:nvPr>
            <p:ph type="sldNum" sz="quarter" idx="12"/>
          </p:nvPr>
        </p:nvSpPr>
        <p:spPr/>
        <p:txBody>
          <a:bodyPr/>
          <a:lstStyle/>
          <a:p>
            <a:fld id="{71E90E32-7D5C-4934-A26B-D6DD83B0CD6B}" type="slidenum">
              <a:rPr lang="en-US" smtClean="0"/>
              <a:t>11</a:t>
            </a:fld>
            <a:endParaRPr lang="en-US" dirty="0"/>
          </a:p>
        </p:txBody>
      </p:sp>
      <p:sp>
        <p:nvSpPr>
          <p:cNvPr id="3" name="TextBox 2">
            <a:extLst>
              <a:ext uri="{FF2B5EF4-FFF2-40B4-BE49-F238E27FC236}">
                <a16:creationId xmlns:a16="http://schemas.microsoft.com/office/drawing/2014/main" id="{4E5E2D94-1220-49DD-B526-9D395DCF5CAE}"/>
              </a:ext>
            </a:extLst>
          </p:cNvPr>
          <p:cNvSpPr txBox="1"/>
          <p:nvPr/>
        </p:nvSpPr>
        <p:spPr>
          <a:xfrm>
            <a:off x="269966" y="2882457"/>
            <a:ext cx="8301896" cy="3293209"/>
          </a:xfrm>
          <a:prstGeom prst="rect">
            <a:avLst/>
          </a:prstGeom>
          <a:noFill/>
        </p:spPr>
        <p:txBody>
          <a:bodyPr wrap="square" rtlCol="0">
            <a:spAutoFit/>
          </a:bodyPr>
          <a:lstStyle/>
          <a:p>
            <a:pPr marL="285750" indent="-285750">
              <a:buFont typeface="Arial" panose="020B0604020202020204" pitchFamily="34" charset="0"/>
              <a:buChar char="•"/>
            </a:pPr>
            <a:r>
              <a:rPr lang="en-US" dirty="0"/>
              <a:t>The time series chart on the left shows the trend in the growth in median (50</a:t>
            </a:r>
            <a:r>
              <a:rPr lang="en-US" baseline="30000" dirty="0"/>
              <a:t>th</a:t>
            </a:r>
            <a:r>
              <a:rPr lang="en-US" dirty="0"/>
              <a:t> quantile) rent across the 5 house sizes. The chart shows that the rent growth across all house sizes has had an increasing trend from 2001 through to 2026. Also median rent for houses with 3 and 4 rooms have had a steeper increase as compared to smaller house sizes. </a:t>
            </a:r>
          </a:p>
          <a:p>
            <a:pPr marL="285750" indent="-285750">
              <a:buFont typeface="Arial" panose="020B0604020202020204" pitchFamily="34" charset="0"/>
              <a:buChar char="•"/>
            </a:pPr>
            <a:r>
              <a:rPr lang="en-US" dirty="0"/>
              <a:t>The plots on the right show the distribution of the data on the GDP_PI, Number of Housing Units and Personal Income. All the three distributions are skewed to the right which imply:</a:t>
            </a:r>
          </a:p>
          <a:p>
            <a:pPr marL="742950" lvl="1" indent="-285750">
              <a:buFont typeface="Arial" panose="020B0604020202020204" pitchFamily="34" charset="0"/>
              <a:buChar char="•"/>
            </a:pPr>
            <a:r>
              <a:rPr lang="en-US" sz="1600" dirty="0"/>
              <a:t>Majority of county level private investment, number of available housing units and average personal income are below the mean.</a:t>
            </a:r>
          </a:p>
          <a:p>
            <a:pPr marL="742950" lvl="1" indent="-285750">
              <a:buFont typeface="Arial" panose="020B0604020202020204" pitchFamily="34" charset="0"/>
              <a:buChar char="•"/>
            </a:pPr>
            <a:r>
              <a:rPr lang="en-US" sz="1600" dirty="0"/>
              <a:t>In very few counties and years there are high levels of private investment, number of available housing units and average personal income.</a:t>
            </a:r>
            <a:endParaRPr lang="en-US" sz="1400" dirty="0"/>
          </a:p>
        </p:txBody>
      </p:sp>
      <p:pic>
        <p:nvPicPr>
          <p:cNvPr id="1026" name="Picture 2">
            <a:extLst>
              <a:ext uri="{FF2B5EF4-FFF2-40B4-BE49-F238E27FC236}">
                <a16:creationId xmlns:a16="http://schemas.microsoft.com/office/drawing/2014/main" id="{5213CD7B-5A6D-4E65-8426-2678ADD4866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832785" y="94290"/>
            <a:ext cx="5571309" cy="27645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19EE9D4-25B8-469A-ADD0-EFA8AABED6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136525"/>
            <a:ext cx="3534515" cy="219737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20B971C-77E5-4CC8-A37D-C6C8B14E54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00" y="2365968"/>
            <a:ext cx="3534515" cy="21973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40C0977F-1388-48A4-BF42-20E7989E59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5191" y="4595411"/>
            <a:ext cx="3465331" cy="2154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19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83750-C43D-4FCE-8C4E-3408C73AE234}"/>
              </a:ext>
            </a:extLst>
          </p:cNvPr>
          <p:cNvSpPr>
            <a:spLocks noGrp="1"/>
          </p:cNvSpPr>
          <p:nvPr>
            <p:ph type="title"/>
          </p:nvPr>
        </p:nvSpPr>
        <p:spPr/>
        <p:txBody>
          <a:bodyPr>
            <a:normAutofit/>
          </a:bodyPr>
          <a:lstStyle/>
          <a:p>
            <a:r>
              <a:rPr lang="en-US" sz="4000" dirty="0">
                <a:latin typeface="Bahnschrift Condensed" panose="020B0502040204020203" pitchFamily="34" charset="0"/>
              </a:rPr>
              <a:t>Exploratory Data Analysis: Correlation</a:t>
            </a:r>
            <a:endParaRPr lang="en-US" sz="4000" dirty="0"/>
          </a:p>
        </p:txBody>
      </p:sp>
      <p:sp>
        <p:nvSpPr>
          <p:cNvPr id="4" name="Content Placeholder 3">
            <a:extLst>
              <a:ext uri="{FF2B5EF4-FFF2-40B4-BE49-F238E27FC236}">
                <a16:creationId xmlns:a16="http://schemas.microsoft.com/office/drawing/2014/main" id="{42672CD5-CB07-4933-A88E-C94170130B11}"/>
              </a:ext>
            </a:extLst>
          </p:cNvPr>
          <p:cNvSpPr>
            <a:spLocks noGrp="1"/>
          </p:cNvSpPr>
          <p:nvPr>
            <p:ph sz="half" idx="2"/>
          </p:nvPr>
        </p:nvSpPr>
        <p:spPr/>
        <p:txBody>
          <a:bodyPr>
            <a:normAutofit/>
          </a:bodyPr>
          <a:lstStyle/>
          <a:p>
            <a:r>
              <a:rPr lang="en-US" sz="2400" dirty="0"/>
              <a:t>The correlation analysis show two instances of high correlation:</a:t>
            </a:r>
          </a:p>
          <a:p>
            <a:pPr lvl="1"/>
            <a:r>
              <a:rPr lang="en-US" sz="2000" dirty="0"/>
              <a:t>Personal Income and GDP_PI and</a:t>
            </a:r>
          </a:p>
          <a:p>
            <a:pPr lvl="1"/>
            <a:r>
              <a:rPr lang="en-US" sz="2000" dirty="0"/>
              <a:t>Personal Income and Housing Units. </a:t>
            </a:r>
          </a:p>
          <a:p>
            <a:pPr lvl="1"/>
            <a:endParaRPr lang="en-US" sz="2000" dirty="0"/>
          </a:p>
          <a:p>
            <a:r>
              <a:rPr lang="en-US" sz="2400" dirty="0"/>
              <a:t>However, the </a:t>
            </a:r>
            <a:r>
              <a:rPr lang="en-US" sz="2400" dirty="0" err="1"/>
              <a:t>ConvLSTM</a:t>
            </a:r>
            <a:r>
              <a:rPr lang="en-US" sz="2400" dirty="0"/>
              <a:t>, </a:t>
            </a:r>
            <a:r>
              <a:rPr lang="en-US" sz="2400" dirty="0" err="1"/>
              <a:t>XGBoost</a:t>
            </a:r>
            <a:r>
              <a:rPr lang="en-US" sz="2400" dirty="0"/>
              <a:t> and LSTM are not sensitive to multicollinearity and hence would adequately manage multicollinearity. </a:t>
            </a:r>
          </a:p>
          <a:p>
            <a:endParaRPr lang="en-US" sz="2400" dirty="0"/>
          </a:p>
        </p:txBody>
      </p:sp>
      <p:sp>
        <p:nvSpPr>
          <p:cNvPr id="5" name="Slide Number Placeholder 4">
            <a:extLst>
              <a:ext uri="{FF2B5EF4-FFF2-40B4-BE49-F238E27FC236}">
                <a16:creationId xmlns:a16="http://schemas.microsoft.com/office/drawing/2014/main" id="{4C92A89B-AE8D-4EE4-8B11-1BAA65A763A5}"/>
              </a:ext>
            </a:extLst>
          </p:cNvPr>
          <p:cNvSpPr>
            <a:spLocks noGrp="1"/>
          </p:cNvSpPr>
          <p:nvPr>
            <p:ph type="sldNum" sz="quarter" idx="12"/>
          </p:nvPr>
        </p:nvSpPr>
        <p:spPr/>
        <p:txBody>
          <a:bodyPr/>
          <a:lstStyle/>
          <a:p>
            <a:fld id="{71E90E32-7D5C-4934-A26B-D6DD83B0CD6B}" type="slidenum">
              <a:rPr lang="en-US" smtClean="0"/>
              <a:t>12</a:t>
            </a:fld>
            <a:endParaRPr lang="en-US" dirty="0"/>
          </a:p>
        </p:txBody>
      </p:sp>
      <p:pic>
        <p:nvPicPr>
          <p:cNvPr id="3074" name="Picture 2">
            <a:extLst>
              <a:ext uri="{FF2B5EF4-FFF2-40B4-BE49-F238E27FC236}">
                <a16:creationId xmlns:a16="http://schemas.microsoft.com/office/drawing/2014/main" id="{E2781866-BFFB-4E5A-B776-058248D5D2D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032077" y="1825625"/>
            <a:ext cx="479384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05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1EFFD-49DE-4532-9A94-F2303386C732}"/>
              </a:ext>
            </a:extLst>
          </p:cNvPr>
          <p:cNvSpPr>
            <a:spLocks noGrp="1"/>
          </p:cNvSpPr>
          <p:nvPr>
            <p:ph type="title"/>
          </p:nvPr>
        </p:nvSpPr>
        <p:spPr>
          <a:xfrm>
            <a:off x="779418" y="-1"/>
            <a:ext cx="6174384" cy="603483"/>
          </a:xfrm>
        </p:spPr>
        <p:txBody>
          <a:bodyPr>
            <a:normAutofit fontScale="90000"/>
          </a:bodyPr>
          <a:lstStyle/>
          <a:p>
            <a:r>
              <a:rPr lang="en-US" dirty="0">
                <a:latin typeface="Bahnschrift Condensed" panose="020B0502040204020203" pitchFamily="34" charset="0"/>
              </a:rPr>
              <a:t>Spatial Analysis (2001 to 2026)</a:t>
            </a:r>
            <a:endParaRPr lang="en-US" dirty="0"/>
          </a:p>
        </p:txBody>
      </p:sp>
      <p:sp>
        <p:nvSpPr>
          <p:cNvPr id="4" name="Slide Number Placeholder 3">
            <a:extLst>
              <a:ext uri="{FF2B5EF4-FFF2-40B4-BE49-F238E27FC236}">
                <a16:creationId xmlns:a16="http://schemas.microsoft.com/office/drawing/2014/main" id="{0B7DDD63-8FC0-4A18-BAB9-7F6A6A52460F}"/>
              </a:ext>
            </a:extLst>
          </p:cNvPr>
          <p:cNvSpPr>
            <a:spLocks noGrp="1"/>
          </p:cNvSpPr>
          <p:nvPr>
            <p:ph type="sldNum" sz="quarter" idx="12"/>
          </p:nvPr>
        </p:nvSpPr>
        <p:spPr/>
        <p:txBody>
          <a:bodyPr/>
          <a:lstStyle/>
          <a:p>
            <a:fld id="{71E90E32-7D5C-4934-A26B-D6DD83B0CD6B}" type="slidenum">
              <a:rPr lang="en-US" smtClean="0"/>
              <a:t>13</a:t>
            </a:fld>
            <a:endParaRPr lang="en-US"/>
          </a:p>
        </p:txBody>
      </p:sp>
      <p:sp>
        <p:nvSpPr>
          <p:cNvPr id="14" name="Content Placeholder 13">
            <a:extLst>
              <a:ext uri="{FF2B5EF4-FFF2-40B4-BE49-F238E27FC236}">
                <a16:creationId xmlns:a16="http://schemas.microsoft.com/office/drawing/2014/main" id="{37582514-F23A-4082-A8F7-BCC5166B9695}"/>
              </a:ext>
            </a:extLst>
          </p:cNvPr>
          <p:cNvSpPr>
            <a:spLocks noGrp="1"/>
          </p:cNvSpPr>
          <p:nvPr>
            <p:ph idx="1"/>
          </p:nvPr>
        </p:nvSpPr>
        <p:spPr>
          <a:xfrm>
            <a:off x="391886" y="4320743"/>
            <a:ext cx="10961914" cy="2049812"/>
          </a:xfrm>
        </p:spPr>
        <p:txBody>
          <a:bodyPr>
            <a:normAutofit/>
          </a:bodyPr>
          <a:lstStyle/>
          <a:p>
            <a:r>
              <a:rPr lang="en-US" sz="2000" dirty="0"/>
              <a:t>Spatial analysis for the change in the median rent shows that higher changes are evident across the US; with existing clusters of high or low rent growths. </a:t>
            </a:r>
          </a:p>
          <a:p>
            <a:endParaRPr lang="en-US" sz="2000" dirty="0"/>
          </a:p>
          <a:p>
            <a:r>
              <a:rPr lang="en-US" sz="2000" dirty="0"/>
              <a:t>The corresponding hotspot analysis on the right shows that the counties to the south within and around New York City form the cluster for hotspot while the counties in the middle and towards the west of the state has clusters of cold spots.  </a:t>
            </a:r>
          </a:p>
        </p:txBody>
      </p:sp>
      <p:pic>
        <p:nvPicPr>
          <p:cNvPr id="5" name="Picture 4">
            <a:extLst>
              <a:ext uri="{FF2B5EF4-FFF2-40B4-BE49-F238E27FC236}">
                <a16:creationId xmlns:a16="http://schemas.microsoft.com/office/drawing/2014/main" id="{00D0B4D0-B7D3-4BDB-A929-CE3F0E6D1A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566" y="603482"/>
            <a:ext cx="6173926" cy="3601457"/>
          </a:xfrm>
          <a:prstGeom prst="rect">
            <a:avLst/>
          </a:prstGeom>
          <a:ln>
            <a:solidFill>
              <a:schemeClr val="tx1"/>
            </a:solidFill>
          </a:ln>
        </p:spPr>
      </p:pic>
      <p:pic>
        <p:nvPicPr>
          <p:cNvPr id="7" name="Picture 6">
            <a:extLst>
              <a:ext uri="{FF2B5EF4-FFF2-40B4-BE49-F238E27FC236}">
                <a16:creationId xmlns:a16="http://schemas.microsoft.com/office/drawing/2014/main" id="{18BD6F18-DAC1-41CA-AB54-BD75490BBF7A}"/>
              </a:ext>
            </a:extLst>
          </p:cNvPr>
          <p:cNvPicPr>
            <a:picLocks noChangeAspect="1"/>
          </p:cNvPicPr>
          <p:nvPr/>
        </p:nvPicPr>
        <p:blipFill rotWithShape="1">
          <a:blip r:embed="rId3">
            <a:extLst>
              <a:ext uri="{28A0092B-C50C-407E-A947-70E740481C1C}">
                <a14:useLocalDpi xmlns:a14="http://schemas.microsoft.com/office/drawing/2010/main" val="0"/>
              </a:ext>
            </a:extLst>
          </a:blip>
          <a:srcRect r="12286"/>
          <a:stretch/>
        </p:blipFill>
        <p:spPr>
          <a:xfrm>
            <a:off x="6461201" y="602235"/>
            <a:ext cx="5417291" cy="3602704"/>
          </a:xfrm>
          <a:prstGeom prst="rect">
            <a:avLst/>
          </a:prstGeom>
          <a:ln>
            <a:solidFill>
              <a:schemeClr val="tx1"/>
            </a:solidFill>
          </a:ln>
        </p:spPr>
      </p:pic>
      <p:pic>
        <p:nvPicPr>
          <p:cNvPr id="18" name="Picture 17">
            <a:extLst>
              <a:ext uri="{FF2B5EF4-FFF2-40B4-BE49-F238E27FC236}">
                <a16:creationId xmlns:a16="http://schemas.microsoft.com/office/drawing/2014/main" id="{80954FC9-506D-4787-AEF0-86B53ED14B96}"/>
              </a:ext>
            </a:extLst>
          </p:cNvPr>
          <p:cNvPicPr>
            <a:picLocks noChangeAspect="1"/>
          </p:cNvPicPr>
          <p:nvPr/>
        </p:nvPicPr>
        <p:blipFill rotWithShape="1">
          <a:blip r:embed="rId4">
            <a:extLst>
              <a:ext uri="{28A0092B-C50C-407E-A947-70E740481C1C}">
                <a14:useLocalDpi xmlns:a14="http://schemas.microsoft.com/office/drawing/2010/main" val="0"/>
              </a:ext>
            </a:extLst>
          </a:blip>
          <a:srcRect l="88575" t="8184" r="-83" b="76635"/>
          <a:stretch/>
        </p:blipFill>
        <p:spPr>
          <a:xfrm>
            <a:off x="10727996" y="3603805"/>
            <a:ext cx="1148320" cy="601134"/>
          </a:xfrm>
          <a:prstGeom prst="rect">
            <a:avLst/>
          </a:prstGeom>
          <a:ln>
            <a:solidFill>
              <a:schemeClr val="tx1"/>
            </a:solidFill>
          </a:ln>
        </p:spPr>
      </p:pic>
    </p:spTree>
    <p:extLst>
      <p:ext uri="{BB962C8B-B14F-4D97-AF65-F5344CB8AC3E}">
        <p14:creationId xmlns:p14="http://schemas.microsoft.com/office/powerpoint/2010/main" val="452041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0A9E77A4-1A6D-4714-9E4C-704B9A3A07C3}"/>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1058333"/>
            <a:ext cx="11157865" cy="566314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585E629E-2AD3-4227-9327-8669DAE44D87}"/>
              </a:ext>
            </a:extLst>
          </p:cNvPr>
          <p:cNvSpPr>
            <a:spLocks noGrp="1"/>
          </p:cNvSpPr>
          <p:nvPr>
            <p:ph type="title"/>
          </p:nvPr>
        </p:nvSpPr>
        <p:spPr>
          <a:xfrm>
            <a:off x="838200" y="365126"/>
            <a:ext cx="10515600" cy="906326"/>
          </a:xfrm>
        </p:spPr>
        <p:txBody>
          <a:bodyPr>
            <a:normAutofit fontScale="90000"/>
          </a:bodyPr>
          <a:lstStyle/>
          <a:p>
            <a:r>
              <a:rPr lang="en-US" dirty="0">
                <a:latin typeface="Bahnschrift Condensed" panose="020B0502040204020203" pitchFamily="34" charset="0"/>
              </a:rPr>
              <a:t>Results: Actual vs Predicted - Diffusion Modelling </a:t>
            </a:r>
            <a:r>
              <a:rPr lang="en-US" dirty="0" err="1">
                <a:latin typeface="Bahnschrift Condensed" panose="020B0502040204020203" pitchFamily="34" charset="0"/>
              </a:rPr>
              <a:t>ConvLSTM</a:t>
            </a:r>
            <a:endParaRPr lang="en-US" dirty="0">
              <a:latin typeface="Bahnschrift Condensed" panose="020B0502040204020203" pitchFamily="34" charset="0"/>
            </a:endParaRPr>
          </a:p>
        </p:txBody>
      </p:sp>
      <p:sp>
        <p:nvSpPr>
          <p:cNvPr id="4" name="Slide Number Placeholder 3">
            <a:extLst>
              <a:ext uri="{FF2B5EF4-FFF2-40B4-BE49-F238E27FC236}">
                <a16:creationId xmlns:a16="http://schemas.microsoft.com/office/drawing/2014/main" id="{6668A82D-AA58-4225-AD17-A3B7919F41CD}"/>
              </a:ext>
            </a:extLst>
          </p:cNvPr>
          <p:cNvSpPr>
            <a:spLocks noGrp="1"/>
          </p:cNvSpPr>
          <p:nvPr>
            <p:ph type="sldNum" sz="quarter" idx="12"/>
          </p:nvPr>
        </p:nvSpPr>
        <p:spPr/>
        <p:txBody>
          <a:bodyPr/>
          <a:lstStyle/>
          <a:p>
            <a:fld id="{71E90E32-7D5C-4934-A26B-D6DD83B0CD6B}" type="slidenum">
              <a:rPr lang="en-US" smtClean="0"/>
              <a:t>14</a:t>
            </a:fld>
            <a:endParaRPr lang="en-US"/>
          </a:p>
        </p:txBody>
      </p:sp>
      <p:sp>
        <p:nvSpPr>
          <p:cNvPr id="3" name="Content Placeholder 2">
            <a:extLst>
              <a:ext uri="{FF2B5EF4-FFF2-40B4-BE49-F238E27FC236}">
                <a16:creationId xmlns:a16="http://schemas.microsoft.com/office/drawing/2014/main" id="{2F52BB3A-16B6-45EC-8DEE-EF051A2A5DD6}"/>
              </a:ext>
            </a:extLst>
          </p:cNvPr>
          <p:cNvSpPr>
            <a:spLocks noGrp="1"/>
          </p:cNvSpPr>
          <p:nvPr>
            <p:ph sz="half" idx="2"/>
          </p:nvPr>
        </p:nvSpPr>
        <p:spPr>
          <a:xfrm>
            <a:off x="914400" y="5440313"/>
            <a:ext cx="7620000" cy="1200607"/>
          </a:xfrm>
        </p:spPr>
        <p:txBody>
          <a:bodyPr>
            <a:normAutofit fontScale="77500" lnSpcReduction="20000"/>
          </a:bodyPr>
          <a:lstStyle/>
          <a:p>
            <a:r>
              <a:rPr lang="en-US" sz="2400" dirty="0"/>
              <a:t>The diffusion in the actual and predicted data is shown for the 3 most recent time steps in the diffusion grids (8x8). The grids shows that:</a:t>
            </a:r>
          </a:p>
          <a:p>
            <a:pPr lvl="1"/>
            <a:r>
              <a:rPr lang="en-US" sz="2000" dirty="0"/>
              <a:t>Rent increases diffused from the same counties over time. </a:t>
            </a:r>
          </a:p>
          <a:p>
            <a:pPr lvl="1"/>
            <a:r>
              <a:rPr lang="en-US" sz="2000" dirty="0"/>
              <a:t>The predictions from the </a:t>
            </a:r>
            <a:r>
              <a:rPr lang="en-US" sz="2000" dirty="0" err="1"/>
              <a:t>ConvLSTM</a:t>
            </a:r>
            <a:r>
              <a:rPr lang="en-US" sz="2000" dirty="0"/>
              <a:t> well captures the diffusion across counties and over time.</a:t>
            </a:r>
          </a:p>
        </p:txBody>
      </p:sp>
    </p:spTree>
    <p:extLst>
      <p:ext uri="{BB962C8B-B14F-4D97-AF65-F5344CB8AC3E}">
        <p14:creationId xmlns:p14="http://schemas.microsoft.com/office/powerpoint/2010/main" val="2110625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FF19A-6B11-4615-9721-3507E77362A0}"/>
              </a:ext>
            </a:extLst>
          </p:cNvPr>
          <p:cNvSpPr>
            <a:spLocks noGrp="1"/>
          </p:cNvSpPr>
          <p:nvPr>
            <p:ph type="title"/>
          </p:nvPr>
        </p:nvSpPr>
        <p:spPr/>
        <p:txBody>
          <a:bodyPr/>
          <a:lstStyle/>
          <a:p>
            <a:r>
              <a:rPr lang="en-US" dirty="0">
                <a:latin typeface="Bahnschrift Condensed" panose="020B0502040204020203" pitchFamily="34" charset="0"/>
              </a:rPr>
              <a:t>Results: Model Forecasting Performance</a:t>
            </a:r>
          </a:p>
        </p:txBody>
      </p:sp>
      <p:sp>
        <p:nvSpPr>
          <p:cNvPr id="5" name="Slide Number Placeholder 4">
            <a:extLst>
              <a:ext uri="{FF2B5EF4-FFF2-40B4-BE49-F238E27FC236}">
                <a16:creationId xmlns:a16="http://schemas.microsoft.com/office/drawing/2014/main" id="{E6AD721D-ACDF-4D6A-890F-D0A27AC5E50C}"/>
              </a:ext>
            </a:extLst>
          </p:cNvPr>
          <p:cNvSpPr>
            <a:spLocks noGrp="1"/>
          </p:cNvSpPr>
          <p:nvPr>
            <p:ph type="sldNum" sz="quarter" idx="12"/>
          </p:nvPr>
        </p:nvSpPr>
        <p:spPr/>
        <p:txBody>
          <a:bodyPr/>
          <a:lstStyle/>
          <a:p>
            <a:fld id="{71E90E32-7D5C-4934-A26B-D6DD83B0CD6B}" type="slidenum">
              <a:rPr lang="en-US" smtClean="0"/>
              <a:t>15</a:t>
            </a:fld>
            <a:endParaRPr lang="en-US"/>
          </a:p>
        </p:txBody>
      </p:sp>
      <p:sp>
        <p:nvSpPr>
          <p:cNvPr id="7" name="Content Placeholder 6">
            <a:extLst>
              <a:ext uri="{FF2B5EF4-FFF2-40B4-BE49-F238E27FC236}">
                <a16:creationId xmlns:a16="http://schemas.microsoft.com/office/drawing/2014/main" id="{DFFD3EE4-BEF5-460B-91EC-F716458C98E0}"/>
              </a:ext>
            </a:extLst>
          </p:cNvPr>
          <p:cNvSpPr>
            <a:spLocks noGrp="1"/>
          </p:cNvSpPr>
          <p:nvPr>
            <p:ph sz="half" idx="1"/>
          </p:nvPr>
        </p:nvSpPr>
        <p:spPr/>
        <p:txBody>
          <a:bodyPr>
            <a:normAutofit/>
          </a:bodyPr>
          <a:lstStyle/>
          <a:p>
            <a:r>
              <a:rPr lang="en-US" sz="2400" dirty="0"/>
              <a:t>Spatial-Temporal patterns and GDP PI, Personal Income, Housing Units and House size account for 82.84% (R2 = 0.828419) of the variation (and hence diffusion) of rent.</a:t>
            </a:r>
          </a:p>
          <a:p>
            <a:endParaRPr lang="en-US" sz="2400" dirty="0"/>
          </a:p>
          <a:p>
            <a:r>
              <a:rPr lang="en-US" sz="2400" dirty="0"/>
              <a:t>First and second rent lags, GDP PI, Personal Income, Housing Units and House size are shown to account for 88.58% (R2 = 0.8858) and 49.91% (R2 = 0.4991) of variation in rent by XGBoost and LSTM respectively. </a:t>
            </a:r>
            <a:endParaRPr lang="en-US" dirty="0"/>
          </a:p>
          <a:p>
            <a:endParaRPr lang="en-US" dirty="0"/>
          </a:p>
        </p:txBody>
      </p:sp>
      <p:graphicFrame>
        <p:nvGraphicFramePr>
          <p:cNvPr id="13" name="Table 14">
            <a:extLst>
              <a:ext uri="{FF2B5EF4-FFF2-40B4-BE49-F238E27FC236}">
                <a16:creationId xmlns:a16="http://schemas.microsoft.com/office/drawing/2014/main" id="{E65044A6-AA1D-440F-9C23-5C2C836ADF23}"/>
              </a:ext>
            </a:extLst>
          </p:cNvPr>
          <p:cNvGraphicFramePr>
            <a:graphicFrameLocks noGrp="1"/>
          </p:cNvGraphicFramePr>
          <p:nvPr>
            <p:ph sz="half" idx="2"/>
            <p:extLst>
              <p:ext uri="{D42A27DB-BD31-4B8C-83A1-F6EECF244321}">
                <p14:modId xmlns:p14="http://schemas.microsoft.com/office/powerpoint/2010/main" val="2783271199"/>
              </p:ext>
            </p:extLst>
          </p:nvPr>
        </p:nvGraphicFramePr>
        <p:xfrm>
          <a:off x="6546671" y="2766764"/>
          <a:ext cx="5111932" cy="2513510"/>
        </p:xfrm>
        <a:graphic>
          <a:graphicData uri="http://schemas.openxmlformats.org/drawingml/2006/table">
            <a:tbl>
              <a:tblPr firstRow="1" bandRow="1">
                <a:tableStyleId>{5C22544A-7EE6-4342-B048-85BDC9FD1C3A}</a:tableStyleId>
              </a:tblPr>
              <a:tblGrid>
                <a:gridCol w="1144989">
                  <a:extLst>
                    <a:ext uri="{9D8B030D-6E8A-4147-A177-3AD203B41FA5}">
                      <a16:colId xmlns:a16="http://schemas.microsoft.com/office/drawing/2014/main" val="3644358906"/>
                    </a:ext>
                  </a:extLst>
                </a:gridCol>
                <a:gridCol w="1485000">
                  <a:extLst>
                    <a:ext uri="{9D8B030D-6E8A-4147-A177-3AD203B41FA5}">
                      <a16:colId xmlns:a16="http://schemas.microsoft.com/office/drawing/2014/main" val="2881467736"/>
                    </a:ext>
                  </a:extLst>
                </a:gridCol>
                <a:gridCol w="1159629">
                  <a:extLst>
                    <a:ext uri="{9D8B030D-6E8A-4147-A177-3AD203B41FA5}">
                      <a16:colId xmlns:a16="http://schemas.microsoft.com/office/drawing/2014/main" val="396900311"/>
                    </a:ext>
                  </a:extLst>
                </a:gridCol>
                <a:gridCol w="1322314">
                  <a:extLst>
                    <a:ext uri="{9D8B030D-6E8A-4147-A177-3AD203B41FA5}">
                      <a16:colId xmlns:a16="http://schemas.microsoft.com/office/drawing/2014/main" val="1024297939"/>
                    </a:ext>
                  </a:extLst>
                </a:gridCol>
              </a:tblGrid>
              <a:tr h="502702">
                <a:tc>
                  <a:txBody>
                    <a:bodyPr/>
                    <a:lstStyle/>
                    <a:p>
                      <a:endParaRPr lang="en-US" sz="1400" b="1" dirty="0"/>
                    </a:p>
                  </a:txBody>
                  <a:tcPr/>
                </a:tc>
                <a:tc>
                  <a:txBody>
                    <a:bodyPr/>
                    <a:lstStyle/>
                    <a:p>
                      <a:r>
                        <a:rPr lang="en-US" sz="1400" dirty="0"/>
                        <a:t>Diffusion Model</a:t>
                      </a:r>
                    </a:p>
                  </a:txBody>
                  <a:tcPr/>
                </a:tc>
                <a:tc gridSpan="2">
                  <a:txBody>
                    <a:bodyPr/>
                    <a:lstStyle/>
                    <a:p>
                      <a:pPr algn="ctr"/>
                      <a:r>
                        <a:rPr lang="en-US" sz="1400" dirty="0"/>
                        <a:t>Time Series Models</a:t>
                      </a:r>
                    </a:p>
                  </a:txBody>
                  <a:tcPr/>
                </a:tc>
                <a:tc hMerge="1">
                  <a:txBody>
                    <a:bodyPr/>
                    <a:lstStyle/>
                    <a:p>
                      <a:endParaRPr lang="en-US" sz="1400" dirty="0"/>
                    </a:p>
                  </a:txBody>
                  <a:tcPr/>
                </a:tc>
                <a:extLst>
                  <a:ext uri="{0D108BD9-81ED-4DB2-BD59-A6C34878D82A}">
                    <a16:rowId xmlns:a16="http://schemas.microsoft.com/office/drawing/2014/main" val="4176514499"/>
                  </a:ext>
                </a:extLst>
              </a:tr>
              <a:tr h="502702">
                <a:tc>
                  <a:txBody>
                    <a:bodyPr/>
                    <a:lstStyle/>
                    <a:p>
                      <a:endParaRPr lang="en-US" sz="1400" b="1" dirty="0"/>
                    </a:p>
                  </a:txBody>
                  <a:tcPr/>
                </a:tc>
                <a:tc>
                  <a:txBody>
                    <a:bodyPr/>
                    <a:lstStyle/>
                    <a:p>
                      <a:r>
                        <a:rPr lang="en-US" sz="1400" b="1" dirty="0" err="1"/>
                        <a:t>ConvLSTM</a:t>
                      </a:r>
                      <a:endParaRPr lang="en-US" sz="1400" b="1" dirty="0"/>
                    </a:p>
                  </a:txBody>
                  <a:tcPr/>
                </a:tc>
                <a:tc>
                  <a:txBody>
                    <a:bodyPr/>
                    <a:lstStyle/>
                    <a:p>
                      <a:r>
                        <a:rPr lang="en-US" sz="1400" b="1" dirty="0"/>
                        <a:t>XGBoost</a:t>
                      </a:r>
                    </a:p>
                  </a:txBody>
                  <a:tcPr/>
                </a:tc>
                <a:tc>
                  <a:txBody>
                    <a:bodyPr/>
                    <a:lstStyle/>
                    <a:p>
                      <a:r>
                        <a:rPr lang="en-US" sz="1400" b="1" dirty="0"/>
                        <a:t>LSTM</a:t>
                      </a:r>
                    </a:p>
                  </a:txBody>
                  <a:tcPr/>
                </a:tc>
                <a:extLst>
                  <a:ext uri="{0D108BD9-81ED-4DB2-BD59-A6C34878D82A}">
                    <a16:rowId xmlns:a16="http://schemas.microsoft.com/office/drawing/2014/main" val="1504111217"/>
                  </a:ext>
                </a:extLst>
              </a:tr>
              <a:tr h="502702">
                <a:tc>
                  <a:txBody>
                    <a:bodyPr/>
                    <a:lstStyle/>
                    <a:p>
                      <a:r>
                        <a:rPr lang="en-US" sz="1400" b="1" dirty="0"/>
                        <a:t>RMSE</a:t>
                      </a:r>
                    </a:p>
                  </a:txBody>
                  <a:tcPr/>
                </a:tc>
                <a:tc>
                  <a:txBody>
                    <a:bodyPr/>
                    <a:lstStyle/>
                    <a:p>
                      <a:r>
                        <a:rPr lang="en-US" sz="1400" b="0" i="0" kern="1200" dirty="0">
                          <a:solidFill>
                            <a:schemeClr val="dk1"/>
                          </a:solidFill>
                          <a:effectLst/>
                          <a:latin typeface="+mn-lt"/>
                          <a:ea typeface="+mn-ea"/>
                          <a:cs typeface="+mn-cs"/>
                        </a:rPr>
                        <a:t>314.672238</a:t>
                      </a:r>
                      <a:endParaRPr lang="en-US" sz="400" dirty="0"/>
                    </a:p>
                  </a:txBody>
                  <a:tcPr/>
                </a:tc>
                <a:tc>
                  <a:txBody>
                    <a:bodyPr/>
                    <a:lstStyle/>
                    <a:p>
                      <a:r>
                        <a:rPr lang="en-US" sz="1400" b="0" i="0" kern="1200" dirty="0">
                          <a:solidFill>
                            <a:schemeClr val="dk1"/>
                          </a:solidFill>
                          <a:effectLst/>
                          <a:latin typeface="+mn-lt"/>
                          <a:ea typeface="+mn-ea"/>
                          <a:cs typeface="+mn-cs"/>
                        </a:rPr>
                        <a:t>231.240965</a:t>
                      </a:r>
                      <a:endParaRPr lang="en-US" sz="1000" dirty="0"/>
                    </a:p>
                  </a:txBody>
                  <a:tcPr/>
                </a:tc>
                <a:tc>
                  <a:txBody>
                    <a:bodyPr/>
                    <a:lstStyle/>
                    <a:p>
                      <a:r>
                        <a:rPr lang="en-US" sz="1400" b="0" i="0" kern="1200" dirty="0">
                          <a:solidFill>
                            <a:schemeClr val="dk1"/>
                          </a:solidFill>
                          <a:effectLst/>
                          <a:latin typeface="+mn-lt"/>
                          <a:ea typeface="+mn-ea"/>
                          <a:cs typeface="+mn-cs"/>
                        </a:rPr>
                        <a:t>484.892804</a:t>
                      </a:r>
                      <a:endParaRPr lang="en-US" sz="1000" dirty="0"/>
                    </a:p>
                  </a:txBody>
                  <a:tcPr/>
                </a:tc>
                <a:extLst>
                  <a:ext uri="{0D108BD9-81ED-4DB2-BD59-A6C34878D82A}">
                    <a16:rowId xmlns:a16="http://schemas.microsoft.com/office/drawing/2014/main" val="1293073759"/>
                  </a:ext>
                </a:extLst>
              </a:tr>
              <a:tr h="502702">
                <a:tc>
                  <a:txBody>
                    <a:bodyPr/>
                    <a:lstStyle/>
                    <a:p>
                      <a:r>
                        <a:rPr lang="en-US" sz="1400" b="1" dirty="0"/>
                        <a:t>MAE</a:t>
                      </a:r>
                    </a:p>
                  </a:txBody>
                  <a:tcPr/>
                </a:tc>
                <a:tc>
                  <a:txBody>
                    <a:bodyPr/>
                    <a:lstStyle/>
                    <a:p>
                      <a:r>
                        <a:rPr lang="en-US" sz="1400" b="0" i="0" kern="1200" dirty="0">
                          <a:solidFill>
                            <a:schemeClr val="dk1"/>
                          </a:solidFill>
                          <a:effectLst/>
                          <a:latin typeface="+mn-lt"/>
                          <a:ea typeface="+mn-ea"/>
                          <a:cs typeface="+mn-cs"/>
                        </a:rPr>
                        <a:t>211.155426</a:t>
                      </a:r>
                      <a:endParaRPr lang="en-US" sz="400" dirty="0"/>
                    </a:p>
                  </a:txBody>
                  <a:tcPr/>
                </a:tc>
                <a:tc>
                  <a:txBody>
                    <a:bodyPr/>
                    <a:lstStyle/>
                    <a:p>
                      <a:r>
                        <a:rPr lang="en-US" sz="1400" b="0" i="0" kern="1200" dirty="0">
                          <a:solidFill>
                            <a:schemeClr val="dk1"/>
                          </a:solidFill>
                          <a:effectLst/>
                          <a:latin typeface="+mn-lt"/>
                          <a:ea typeface="+mn-ea"/>
                          <a:cs typeface="+mn-cs"/>
                        </a:rPr>
                        <a:t>117.932873</a:t>
                      </a:r>
                      <a:endParaRPr lang="en-US" sz="1000" dirty="0"/>
                    </a:p>
                  </a:txBody>
                  <a:tcPr/>
                </a:tc>
                <a:tc>
                  <a:txBody>
                    <a:bodyPr/>
                    <a:lstStyle/>
                    <a:p>
                      <a:r>
                        <a:rPr lang="en-US" sz="1400" b="0" i="0" kern="1200" dirty="0">
                          <a:solidFill>
                            <a:schemeClr val="dk1"/>
                          </a:solidFill>
                          <a:effectLst/>
                          <a:latin typeface="+mn-lt"/>
                          <a:ea typeface="+mn-ea"/>
                          <a:cs typeface="+mn-cs"/>
                        </a:rPr>
                        <a:t>278.995544</a:t>
                      </a:r>
                      <a:endParaRPr lang="en-US" sz="1000" dirty="0"/>
                    </a:p>
                  </a:txBody>
                  <a:tcPr/>
                </a:tc>
                <a:extLst>
                  <a:ext uri="{0D108BD9-81ED-4DB2-BD59-A6C34878D82A}">
                    <a16:rowId xmlns:a16="http://schemas.microsoft.com/office/drawing/2014/main" val="2239016027"/>
                  </a:ext>
                </a:extLst>
              </a:tr>
              <a:tr h="502702">
                <a:tc>
                  <a:txBody>
                    <a:bodyPr/>
                    <a:lstStyle/>
                    <a:p>
                      <a:r>
                        <a:rPr lang="en-US" sz="1400" b="1" dirty="0"/>
                        <a:t>R2</a:t>
                      </a:r>
                    </a:p>
                  </a:txBody>
                  <a:tcPr/>
                </a:tc>
                <a:tc>
                  <a:txBody>
                    <a:bodyPr/>
                    <a:lstStyle/>
                    <a:p>
                      <a:r>
                        <a:rPr lang="en-US" sz="1400" b="0" i="0" kern="1200" dirty="0">
                          <a:solidFill>
                            <a:schemeClr val="dk1"/>
                          </a:solidFill>
                          <a:effectLst/>
                          <a:latin typeface="+mn-lt"/>
                          <a:ea typeface="+mn-ea"/>
                          <a:cs typeface="+mn-cs"/>
                        </a:rPr>
                        <a:t>0.828419</a:t>
                      </a:r>
                      <a:endParaRPr lang="en-US" sz="400" dirty="0"/>
                    </a:p>
                  </a:txBody>
                  <a:tcPr/>
                </a:tc>
                <a:tc>
                  <a:txBody>
                    <a:bodyPr/>
                    <a:lstStyle/>
                    <a:p>
                      <a:r>
                        <a:rPr lang="en-US" sz="1400" b="0" i="0" kern="1200" dirty="0">
                          <a:solidFill>
                            <a:schemeClr val="dk1"/>
                          </a:solidFill>
                          <a:effectLst/>
                          <a:latin typeface="+mn-lt"/>
                          <a:ea typeface="+mn-ea"/>
                          <a:cs typeface="+mn-cs"/>
                        </a:rPr>
                        <a:t>0.885800</a:t>
                      </a:r>
                      <a:endParaRPr lang="en-US" sz="1000" dirty="0"/>
                    </a:p>
                  </a:txBody>
                  <a:tcPr/>
                </a:tc>
                <a:tc>
                  <a:txBody>
                    <a:bodyPr/>
                    <a:lstStyle/>
                    <a:p>
                      <a:r>
                        <a:rPr lang="en-US" sz="1400" b="0" i="0" kern="1200" dirty="0">
                          <a:solidFill>
                            <a:schemeClr val="dk1"/>
                          </a:solidFill>
                          <a:effectLst/>
                          <a:latin typeface="+mn-lt"/>
                          <a:ea typeface="+mn-ea"/>
                          <a:cs typeface="+mn-cs"/>
                        </a:rPr>
                        <a:t>0.4991</a:t>
                      </a:r>
                      <a:endParaRPr lang="en-US" sz="1000" dirty="0"/>
                    </a:p>
                  </a:txBody>
                  <a:tcPr/>
                </a:tc>
                <a:extLst>
                  <a:ext uri="{0D108BD9-81ED-4DB2-BD59-A6C34878D82A}">
                    <a16:rowId xmlns:a16="http://schemas.microsoft.com/office/drawing/2014/main" val="968192196"/>
                  </a:ext>
                </a:extLst>
              </a:tr>
            </a:tbl>
          </a:graphicData>
        </a:graphic>
      </p:graphicFrame>
    </p:spTree>
    <p:extLst>
      <p:ext uri="{BB962C8B-B14F-4D97-AF65-F5344CB8AC3E}">
        <p14:creationId xmlns:p14="http://schemas.microsoft.com/office/powerpoint/2010/main" val="1566254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F9B7F-2210-44C2-93BC-BE8E104165F4}"/>
              </a:ext>
            </a:extLst>
          </p:cNvPr>
          <p:cNvSpPr>
            <a:spLocks noGrp="1"/>
          </p:cNvSpPr>
          <p:nvPr>
            <p:ph sz="half" idx="2"/>
          </p:nvPr>
        </p:nvSpPr>
        <p:spPr>
          <a:xfrm>
            <a:off x="309977" y="992765"/>
            <a:ext cx="5892438" cy="2083747"/>
          </a:xfrm>
        </p:spPr>
        <p:txBody>
          <a:bodyPr>
            <a:noAutofit/>
          </a:bodyPr>
          <a:lstStyle/>
          <a:p>
            <a:r>
              <a:rPr lang="en-US" sz="2000" dirty="0"/>
              <a:t>The </a:t>
            </a:r>
            <a:r>
              <a:rPr lang="en-US" sz="2000" dirty="0" err="1"/>
              <a:t>ConvLSTM</a:t>
            </a:r>
            <a:r>
              <a:rPr lang="en-US" sz="2000" dirty="0"/>
              <a:t> shows that Personal Income followed by the GDP PI had the most influence on Rent.</a:t>
            </a:r>
          </a:p>
          <a:p>
            <a:r>
              <a:rPr lang="en-US" sz="2000" dirty="0"/>
              <a:t>Lag 2 and Lag 1 lead as the most influential factors for Rent in both the XGBoost and LSTM models.</a:t>
            </a:r>
          </a:p>
        </p:txBody>
      </p:sp>
      <p:sp>
        <p:nvSpPr>
          <p:cNvPr id="2" name="Title 1">
            <a:extLst>
              <a:ext uri="{FF2B5EF4-FFF2-40B4-BE49-F238E27FC236}">
                <a16:creationId xmlns:a16="http://schemas.microsoft.com/office/drawing/2014/main" id="{58287E37-9207-4837-AEEA-942E9F0534D8}"/>
              </a:ext>
            </a:extLst>
          </p:cNvPr>
          <p:cNvSpPr>
            <a:spLocks noGrp="1"/>
          </p:cNvSpPr>
          <p:nvPr>
            <p:ph type="title"/>
          </p:nvPr>
        </p:nvSpPr>
        <p:spPr>
          <a:xfrm>
            <a:off x="309977" y="110739"/>
            <a:ext cx="5606475" cy="709874"/>
          </a:xfrm>
        </p:spPr>
        <p:txBody>
          <a:bodyPr>
            <a:normAutofit/>
          </a:bodyPr>
          <a:lstStyle/>
          <a:p>
            <a:r>
              <a:rPr lang="en-US" dirty="0">
                <a:latin typeface="Bahnschrift Condensed" panose="020B0502040204020203" pitchFamily="34" charset="0"/>
              </a:rPr>
              <a:t>Results: Feature Importance</a:t>
            </a:r>
            <a:endParaRPr lang="en-US" dirty="0"/>
          </a:p>
        </p:txBody>
      </p:sp>
      <p:sp>
        <p:nvSpPr>
          <p:cNvPr id="5" name="Slide Number Placeholder 4">
            <a:extLst>
              <a:ext uri="{FF2B5EF4-FFF2-40B4-BE49-F238E27FC236}">
                <a16:creationId xmlns:a16="http://schemas.microsoft.com/office/drawing/2014/main" id="{9DEDB38D-CA4F-4294-BF52-BB39BA7548FD}"/>
              </a:ext>
            </a:extLst>
          </p:cNvPr>
          <p:cNvSpPr>
            <a:spLocks noGrp="1"/>
          </p:cNvSpPr>
          <p:nvPr>
            <p:ph type="sldNum" sz="quarter" idx="12"/>
          </p:nvPr>
        </p:nvSpPr>
        <p:spPr/>
        <p:txBody>
          <a:bodyPr/>
          <a:lstStyle/>
          <a:p>
            <a:fld id="{71E90E32-7D5C-4934-A26B-D6DD83B0CD6B}" type="slidenum">
              <a:rPr lang="en-US" smtClean="0"/>
              <a:t>16</a:t>
            </a:fld>
            <a:endParaRPr lang="en-US"/>
          </a:p>
        </p:txBody>
      </p:sp>
      <p:pic>
        <p:nvPicPr>
          <p:cNvPr id="8" name="Picture 4">
            <a:extLst>
              <a:ext uri="{FF2B5EF4-FFF2-40B4-BE49-F238E27FC236}">
                <a16:creationId xmlns:a16="http://schemas.microsoft.com/office/drawing/2014/main" id="{A3834DB8-B533-4EF0-AEB9-9BABEDFFEC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5550" y="3383058"/>
            <a:ext cx="5868172" cy="291686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7FCD325-EDEF-4CD9-8974-6EBF49AAD9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7246" y="448291"/>
            <a:ext cx="5606475" cy="278678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02BC9E15-194E-438F-B04F-C5F6F5C9CB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1381" y="3383059"/>
            <a:ext cx="4879481" cy="291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604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CD2FB-CDF8-481B-9AE4-358994A7F4CC}"/>
              </a:ext>
            </a:extLst>
          </p:cNvPr>
          <p:cNvSpPr>
            <a:spLocks noGrp="1"/>
          </p:cNvSpPr>
          <p:nvPr>
            <p:ph type="title"/>
          </p:nvPr>
        </p:nvSpPr>
        <p:spPr/>
        <p:txBody>
          <a:bodyPr/>
          <a:lstStyle/>
          <a:p>
            <a:r>
              <a:rPr lang="en-US" dirty="0">
                <a:latin typeface="Bahnschrift Condensed" panose="020B0502040204020203" pitchFamily="34" charset="0"/>
              </a:rPr>
              <a:t>Discussion</a:t>
            </a:r>
            <a:endParaRPr lang="en-US" dirty="0"/>
          </a:p>
        </p:txBody>
      </p:sp>
      <p:sp>
        <p:nvSpPr>
          <p:cNvPr id="6" name="Content Placeholder 5">
            <a:extLst>
              <a:ext uri="{FF2B5EF4-FFF2-40B4-BE49-F238E27FC236}">
                <a16:creationId xmlns:a16="http://schemas.microsoft.com/office/drawing/2014/main" id="{909AAE33-8555-47F9-926D-F59E502E5F0F}"/>
              </a:ext>
            </a:extLst>
          </p:cNvPr>
          <p:cNvSpPr>
            <a:spLocks noGrp="1"/>
          </p:cNvSpPr>
          <p:nvPr>
            <p:ph idx="1"/>
          </p:nvPr>
        </p:nvSpPr>
        <p:spPr/>
        <p:txBody>
          <a:bodyPr>
            <a:normAutofit/>
          </a:bodyPr>
          <a:lstStyle/>
          <a:p>
            <a:r>
              <a:rPr lang="en-US" sz="2400" dirty="0"/>
              <a:t>The </a:t>
            </a:r>
            <a:r>
              <a:rPr lang="en-US" sz="2400" dirty="0" err="1"/>
              <a:t>ConvLSTM</a:t>
            </a:r>
            <a:r>
              <a:rPr lang="en-US" sz="2400" dirty="0"/>
              <a:t> showed that 82.84% of the variation in the rent (and hence diffusion) can be attributed to the features of the model; with Personal Income having the highest influence for rent diffusion across counties and overtime. </a:t>
            </a:r>
          </a:p>
          <a:p>
            <a:endParaRPr lang="en-US" sz="2400" dirty="0"/>
          </a:p>
          <a:p>
            <a:r>
              <a:rPr lang="en-US" sz="2400" dirty="0"/>
              <a:t>The XGBoost outperforms the LSTM with a 88.58% forecasting accuracy as compared to 49.91% forecasting accuracy for the latter; with both models showing Lag 2 and Lag 1 as the top 2 most influential factors for rent diffusion over time. </a:t>
            </a:r>
          </a:p>
          <a:p>
            <a:endParaRPr lang="en-US" sz="2400" dirty="0"/>
          </a:p>
        </p:txBody>
      </p:sp>
      <p:sp>
        <p:nvSpPr>
          <p:cNvPr id="5" name="Slide Number Placeholder 4">
            <a:extLst>
              <a:ext uri="{FF2B5EF4-FFF2-40B4-BE49-F238E27FC236}">
                <a16:creationId xmlns:a16="http://schemas.microsoft.com/office/drawing/2014/main" id="{7D239EA9-C537-4FF8-A06B-8B8FFC965594}"/>
              </a:ext>
            </a:extLst>
          </p:cNvPr>
          <p:cNvSpPr>
            <a:spLocks noGrp="1"/>
          </p:cNvSpPr>
          <p:nvPr>
            <p:ph type="sldNum" sz="quarter" idx="12"/>
          </p:nvPr>
        </p:nvSpPr>
        <p:spPr/>
        <p:txBody>
          <a:bodyPr/>
          <a:lstStyle/>
          <a:p>
            <a:fld id="{71E90E32-7D5C-4934-A26B-D6DD83B0CD6B}" type="slidenum">
              <a:rPr lang="en-US" smtClean="0"/>
              <a:t>17</a:t>
            </a:fld>
            <a:endParaRPr lang="en-US"/>
          </a:p>
        </p:txBody>
      </p:sp>
    </p:spTree>
    <p:extLst>
      <p:ext uri="{BB962C8B-B14F-4D97-AF65-F5344CB8AC3E}">
        <p14:creationId xmlns:p14="http://schemas.microsoft.com/office/powerpoint/2010/main" val="912819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AA24F-03D6-4AEA-A594-2F59DE9BC49D}"/>
              </a:ext>
            </a:extLst>
          </p:cNvPr>
          <p:cNvSpPr>
            <a:spLocks noGrp="1"/>
          </p:cNvSpPr>
          <p:nvPr>
            <p:ph type="title"/>
          </p:nvPr>
        </p:nvSpPr>
        <p:spPr/>
        <p:txBody>
          <a:bodyPr>
            <a:normAutofit/>
          </a:bodyPr>
          <a:lstStyle/>
          <a:p>
            <a:r>
              <a:rPr lang="en-US" sz="2800" dirty="0">
                <a:latin typeface="Bahnschrift Condensed" panose="020B0502040204020203" pitchFamily="34" charset="0"/>
              </a:rPr>
              <a:t>Conclusion and Recommendations: Property Pricing and Property Development</a:t>
            </a:r>
          </a:p>
        </p:txBody>
      </p:sp>
      <p:sp>
        <p:nvSpPr>
          <p:cNvPr id="3" name="Content Placeholder 2">
            <a:extLst>
              <a:ext uri="{FF2B5EF4-FFF2-40B4-BE49-F238E27FC236}">
                <a16:creationId xmlns:a16="http://schemas.microsoft.com/office/drawing/2014/main" id="{62EDABE1-B444-4859-85EC-446C5699300C}"/>
              </a:ext>
            </a:extLst>
          </p:cNvPr>
          <p:cNvSpPr>
            <a:spLocks noGrp="1"/>
          </p:cNvSpPr>
          <p:nvPr>
            <p:ph idx="1"/>
          </p:nvPr>
        </p:nvSpPr>
        <p:spPr/>
        <p:txBody>
          <a:bodyPr>
            <a:normAutofit/>
          </a:bodyPr>
          <a:lstStyle/>
          <a:p>
            <a:r>
              <a:rPr lang="en-US" sz="2400" dirty="0"/>
              <a:t>Rent is shown to diffuse, both across counties and overtime where the county, GDP PI, Personal Income, Housing Units, House Size and Rent in previous years explain 82.84% of the rent. </a:t>
            </a:r>
          </a:p>
          <a:p>
            <a:pPr lvl="1"/>
            <a:r>
              <a:rPr lang="en-US" sz="2000" dirty="0"/>
              <a:t>Diffusion clusters imply the need for property owners and developers to understand the rent for housing in associated counties from the diffusion grid and the accompanying costs; and utilize them in the pricing strategy. </a:t>
            </a:r>
          </a:p>
          <a:p>
            <a:endParaRPr lang="en-US" sz="2400" dirty="0"/>
          </a:p>
          <a:p>
            <a:r>
              <a:rPr lang="en-US" sz="2400" dirty="0"/>
              <a:t>Diffusion of rent overtime is shown to be mainly over 2-year periods (Lag 2) and to some extent over 1-year periods (Lag 1). </a:t>
            </a:r>
          </a:p>
          <a:p>
            <a:pPr lvl="1"/>
            <a:r>
              <a:rPr lang="en-US" sz="2000" dirty="0"/>
              <a:t>Observing rent over the past 2 years provides a good indication of the direction of present rent through which property owners and developers can anticipate the rent grows. </a:t>
            </a:r>
          </a:p>
          <a:p>
            <a:pPr marL="0" indent="0">
              <a:buNone/>
            </a:pPr>
            <a:endParaRPr lang="en-US" sz="2400" dirty="0"/>
          </a:p>
        </p:txBody>
      </p:sp>
      <p:sp>
        <p:nvSpPr>
          <p:cNvPr id="4" name="Slide Number Placeholder 3">
            <a:extLst>
              <a:ext uri="{FF2B5EF4-FFF2-40B4-BE49-F238E27FC236}">
                <a16:creationId xmlns:a16="http://schemas.microsoft.com/office/drawing/2014/main" id="{FD300B17-9F8E-473F-9E8E-085B29A58E60}"/>
              </a:ext>
            </a:extLst>
          </p:cNvPr>
          <p:cNvSpPr>
            <a:spLocks noGrp="1"/>
          </p:cNvSpPr>
          <p:nvPr>
            <p:ph type="sldNum" sz="quarter" idx="12"/>
          </p:nvPr>
        </p:nvSpPr>
        <p:spPr/>
        <p:txBody>
          <a:bodyPr/>
          <a:lstStyle/>
          <a:p>
            <a:fld id="{71E90E32-7D5C-4934-A26B-D6DD83B0CD6B}" type="slidenum">
              <a:rPr lang="en-US" smtClean="0"/>
              <a:t>18</a:t>
            </a:fld>
            <a:endParaRPr lang="en-US"/>
          </a:p>
        </p:txBody>
      </p:sp>
    </p:spTree>
    <p:extLst>
      <p:ext uri="{BB962C8B-B14F-4D97-AF65-F5344CB8AC3E}">
        <p14:creationId xmlns:p14="http://schemas.microsoft.com/office/powerpoint/2010/main" val="4116961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A0412-E589-4B8C-8433-A70A0511E510}"/>
              </a:ext>
            </a:extLst>
          </p:cNvPr>
          <p:cNvSpPr>
            <a:spLocks noGrp="1"/>
          </p:cNvSpPr>
          <p:nvPr>
            <p:ph type="title"/>
          </p:nvPr>
        </p:nvSpPr>
        <p:spPr/>
        <p:txBody>
          <a:bodyPr/>
          <a:lstStyle/>
          <a:p>
            <a:r>
              <a:rPr lang="en-US" dirty="0">
                <a:latin typeface="Bahnschrift Condensed" panose="020B0502040204020203" pitchFamily="34" charset="0"/>
              </a:rPr>
              <a:t>References</a:t>
            </a:r>
          </a:p>
        </p:txBody>
      </p:sp>
      <p:sp>
        <p:nvSpPr>
          <p:cNvPr id="3" name="Content Placeholder 2">
            <a:extLst>
              <a:ext uri="{FF2B5EF4-FFF2-40B4-BE49-F238E27FC236}">
                <a16:creationId xmlns:a16="http://schemas.microsoft.com/office/drawing/2014/main" id="{7F441C7C-BC9C-4008-BAC8-A9C7F75E0E24}"/>
              </a:ext>
            </a:extLst>
          </p:cNvPr>
          <p:cNvSpPr>
            <a:spLocks noGrp="1"/>
          </p:cNvSpPr>
          <p:nvPr>
            <p:ph idx="1"/>
          </p:nvPr>
        </p:nvSpPr>
        <p:spPr>
          <a:xfrm>
            <a:off x="838200" y="1410789"/>
            <a:ext cx="10515600" cy="4766174"/>
          </a:xfrm>
        </p:spPr>
        <p:txBody>
          <a:bodyPr>
            <a:normAutofit fontScale="92500" lnSpcReduction="10000"/>
          </a:bodyPr>
          <a:lstStyle/>
          <a:p>
            <a:pPr marL="0" indent="0">
              <a:buNone/>
            </a:pPr>
            <a:r>
              <a:rPr lang="en-US" sz="1400" dirty="0"/>
              <a:t>[1] R. </a:t>
            </a:r>
            <a:r>
              <a:rPr lang="en-US" sz="1400" dirty="0" err="1"/>
              <a:t>Derven</a:t>
            </a:r>
            <a:r>
              <a:rPr lang="en-US" sz="1400" dirty="0"/>
              <a:t>, “Data center real estate: Challenges and opportunities in the digital age,” </a:t>
            </a:r>
            <a:r>
              <a:rPr lang="en-US" sz="1400" i="1" dirty="0"/>
              <a:t>NAIOP Development Magazine</a:t>
            </a:r>
            <a:r>
              <a:rPr lang="en-US" sz="1400" dirty="0"/>
              <a:t>, Winter 2023–2024. Available: </a:t>
            </a:r>
            <a:r>
              <a:rPr lang="en-US" sz="1400" u="sng" dirty="0">
                <a:hlinkClick r:id="rId2"/>
              </a:rPr>
              <a:t>https://www.naiop.org/research-and-publications/magazine/2023/winter-2023-2024/development-ownership/data-center-real-estate-challenges-and-opportunities-in-the-digital-age/</a:t>
            </a:r>
            <a:endParaRPr lang="en-US" sz="1400" dirty="0"/>
          </a:p>
          <a:p>
            <a:pPr marL="0" indent="0">
              <a:buNone/>
            </a:pPr>
            <a:r>
              <a:rPr lang="en-US" sz="1400" dirty="0"/>
              <a:t>[2] F. Sá, “The effect of foreign investors on local housing markets: Evidence from the UK,” </a:t>
            </a:r>
            <a:r>
              <a:rPr lang="en-US" sz="1400" i="1" dirty="0"/>
              <a:t>Journal of Economic Geography</a:t>
            </a:r>
            <a:r>
              <a:rPr lang="en-US" sz="1400" dirty="0"/>
              <a:t>, vol. 25, no. 3, pp. 329–349, May 2025. Available: </a:t>
            </a:r>
            <a:r>
              <a:rPr lang="en-US" sz="1400" u="sng" dirty="0">
                <a:hlinkClick r:id="rId3"/>
              </a:rPr>
              <a:t>https://academic.oup.com/joeg/article/25/3/329/7901283</a:t>
            </a:r>
            <a:endParaRPr lang="en-US" sz="1400" dirty="0"/>
          </a:p>
          <a:p>
            <a:pPr marL="0" indent="0">
              <a:buNone/>
            </a:pPr>
            <a:r>
              <a:rPr lang="en-US" sz="1400" dirty="0"/>
              <a:t>[3] H. R. A. </a:t>
            </a:r>
            <a:r>
              <a:rPr lang="en-US" sz="1400" dirty="0" err="1"/>
              <a:t>Koster</a:t>
            </a:r>
            <a:r>
              <a:rPr lang="en-US" sz="1400" dirty="0"/>
              <a:t>, J. van Ommeren, and N. </a:t>
            </a:r>
            <a:r>
              <a:rPr lang="en-US" sz="1400" dirty="0" err="1"/>
              <a:t>Volkhausen</a:t>
            </a:r>
            <a:r>
              <a:rPr lang="en-US" sz="1400" dirty="0"/>
              <a:t>, “Short-term rentals and the housing market: Quasi-experimental evidence from Airbnb in Los Angeles,” </a:t>
            </a:r>
            <a:r>
              <a:rPr lang="en-US" sz="1400" i="1" dirty="0"/>
              <a:t>Journal of Urban Economics</a:t>
            </a:r>
            <a:r>
              <a:rPr lang="en-US" sz="1400" dirty="0"/>
              <a:t>, vol. 124, p. 103356, Jul. 2021. </a:t>
            </a:r>
            <a:r>
              <a:rPr lang="en-US" sz="1400" dirty="0">
                <a:hlinkClick r:id="rId4" tooltip="Persistent link using digital object identifier"/>
              </a:rPr>
              <a:t>https://doi.org/10.1016/j.jue.2021.103356</a:t>
            </a:r>
            <a:endParaRPr lang="en-US" sz="1400" dirty="0"/>
          </a:p>
          <a:p>
            <a:pPr marL="0" indent="0">
              <a:buNone/>
            </a:pPr>
            <a:r>
              <a:rPr lang="en-US" sz="1400" dirty="0"/>
              <a:t>[4] X. Zhang and Y. Yu, “Migration, transportation infrastructure, and the spatial transmission of COVID-19 in China,” </a:t>
            </a:r>
            <a:r>
              <a:rPr lang="en-US" sz="1400" i="1" dirty="0"/>
              <a:t>Journal of Urban Economics</a:t>
            </a:r>
            <a:r>
              <a:rPr lang="en-US" sz="1400" dirty="0"/>
              <a:t>, vol. 127, 2022, Art. no. 103351. </a:t>
            </a:r>
            <a:r>
              <a:rPr lang="en-US" sz="1400" dirty="0" err="1"/>
              <a:t>doi</a:t>
            </a:r>
            <a:r>
              <a:rPr lang="en-US" sz="1400" dirty="0"/>
              <a:t>: 10.1016/j.jue.2021.103351</a:t>
            </a:r>
          </a:p>
          <a:p>
            <a:pPr marL="0" indent="0">
              <a:buNone/>
            </a:pPr>
            <a:r>
              <a:rPr lang="en-US" sz="1400" dirty="0"/>
              <a:t>[5] Y. Pang, X. Zhao, H. Yan, and Y. Liu, “Data-driven trajectory prediction with weather uncertainties: A Bayesian deep learning approach,” </a:t>
            </a:r>
            <a:r>
              <a:rPr lang="en-US" sz="1400" i="1" dirty="0"/>
              <a:t>Transportation Research Part C</a:t>
            </a:r>
            <a:r>
              <a:rPr lang="en-US" sz="1400" dirty="0"/>
              <a:t>, vol. 130, 2021, Art. no. 103326. </a:t>
            </a:r>
            <a:r>
              <a:rPr lang="en-US" sz="1400" dirty="0" err="1"/>
              <a:t>doi</a:t>
            </a:r>
            <a:r>
              <a:rPr lang="en-US" sz="1400" dirty="0"/>
              <a:t>: 10.1016/j.trc.2021.103326</a:t>
            </a:r>
          </a:p>
          <a:p>
            <a:pPr marL="0" indent="0">
              <a:buNone/>
            </a:pPr>
            <a:r>
              <a:rPr lang="en-US" sz="1400" dirty="0"/>
              <a:t>[6] S. </a:t>
            </a:r>
            <a:r>
              <a:rPr lang="en-US" sz="1400" dirty="0" err="1"/>
              <a:t>Galiani</a:t>
            </a:r>
            <a:r>
              <a:rPr lang="en-US" sz="1400" dirty="0"/>
              <a:t>, P. J. Gertler, and R. </a:t>
            </a:r>
            <a:r>
              <a:rPr lang="en-US" sz="1400" dirty="0" err="1"/>
              <a:t>Undurraga</a:t>
            </a:r>
            <a:r>
              <a:rPr lang="en-US" sz="1400" dirty="0"/>
              <a:t>, “Aspiration adaptation in resource-constrained environments,” </a:t>
            </a:r>
            <a:r>
              <a:rPr lang="en-US" sz="1400" i="1" dirty="0"/>
              <a:t>Journal of Urban Economics</a:t>
            </a:r>
            <a:r>
              <a:rPr lang="en-US" sz="1400" dirty="0"/>
              <a:t>, vol. 123, 2021, Art. no. 103326. </a:t>
            </a:r>
            <a:r>
              <a:rPr lang="en-US" sz="1400" dirty="0" err="1"/>
              <a:t>doi</a:t>
            </a:r>
            <a:r>
              <a:rPr lang="en-US" sz="1400" dirty="0"/>
              <a:t>: 10.1016/j.jue.2021.103326</a:t>
            </a:r>
          </a:p>
          <a:p>
            <a:pPr marL="0" indent="0">
              <a:buNone/>
            </a:pPr>
            <a:r>
              <a:rPr lang="en-US" sz="1400" dirty="0"/>
              <a:t>[7] F. Yuan, C. </a:t>
            </a:r>
            <a:r>
              <a:rPr lang="en-US" sz="1400" dirty="0" err="1"/>
              <a:t>Leng</a:t>
            </a:r>
            <a:r>
              <a:rPr lang="en-US" sz="1400" dirty="0"/>
              <a:t>, H. Yan, Z. Pei, and J. Peng, “MEMA-</a:t>
            </a:r>
            <a:r>
              <a:rPr lang="en-US" sz="1400" dirty="0" err="1"/>
              <a:t>ConvLSTM</a:t>
            </a:r>
            <a:r>
              <a:rPr lang="en-US" sz="1400" dirty="0"/>
              <a:t>: Spatiotemporal prediction via multi-scale autocorrelation memory and hierarchical fusion,” </a:t>
            </a:r>
            <a:r>
              <a:rPr lang="en-US" sz="1400" i="1" dirty="0"/>
              <a:t>Information Sciences</a:t>
            </a:r>
            <a:r>
              <a:rPr lang="en-US" sz="1400" dirty="0"/>
              <a:t>, 2026. </a:t>
            </a:r>
            <a:r>
              <a:rPr lang="en-US" sz="1400" dirty="0" err="1"/>
              <a:t>doi</a:t>
            </a:r>
            <a:r>
              <a:rPr lang="en-US" sz="1400" dirty="0"/>
              <a:t>: 10.1016/j.ins.2026.123404</a:t>
            </a:r>
          </a:p>
          <a:p>
            <a:pPr marL="0" indent="0">
              <a:buNone/>
            </a:pPr>
            <a:r>
              <a:rPr lang="en-US" sz="1400" dirty="0"/>
              <a:t>[8] J. Xiao, Z. Wang, Y. Liao, </a:t>
            </a:r>
            <a:r>
              <a:rPr lang="en-US" sz="1400" i="1" dirty="0"/>
              <a:t>et al.</a:t>
            </a:r>
            <a:r>
              <a:rPr lang="en-US" sz="1400" dirty="0"/>
              <a:t>, “A </a:t>
            </a:r>
            <a:r>
              <a:rPr lang="en-US" sz="1400" dirty="0" err="1"/>
              <a:t>ConvLSTM</a:t>
            </a:r>
            <a:r>
              <a:rPr lang="en-US" sz="1400" dirty="0"/>
              <a:t>-Based Model for Urban Flood Prediction Under Dynamic Rainfall Patterns and Exploration on Its Extrapolation Capability,” </a:t>
            </a:r>
            <a:r>
              <a:rPr lang="en-US" sz="1400" i="1" dirty="0"/>
              <a:t>International Journal of Disaster Risk Science</a:t>
            </a:r>
            <a:r>
              <a:rPr lang="en-US" sz="1400" dirty="0"/>
              <a:t>, vol. 16, pp. 1057–1073, 2025. </a:t>
            </a:r>
            <a:r>
              <a:rPr lang="en-US" sz="1400" dirty="0" err="1"/>
              <a:t>doi</a:t>
            </a:r>
            <a:r>
              <a:rPr lang="en-US" sz="1400" dirty="0"/>
              <a:t>: 10.1007/s13753-025-00685-8</a:t>
            </a:r>
          </a:p>
          <a:p>
            <a:pPr marL="0" indent="0">
              <a:buNone/>
            </a:pPr>
            <a:r>
              <a:rPr lang="en-US" sz="1400" dirty="0"/>
              <a:t>[9] M. A. </a:t>
            </a:r>
            <a:r>
              <a:rPr lang="en-US" sz="1400" dirty="0" err="1"/>
              <a:t>Mosavi</a:t>
            </a:r>
            <a:r>
              <a:rPr lang="en-US" sz="1400" dirty="0"/>
              <a:t>, S. </a:t>
            </a:r>
            <a:r>
              <a:rPr lang="en-US" sz="1400" dirty="0" err="1"/>
              <a:t>Ardabili</a:t>
            </a:r>
            <a:r>
              <a:rPr lang="en-US" sz="1400" dirty="0"/>
              <a:t>, and A. R. </a:t>
            </a:r>
            <a:r>
              <a:rPr lang="en-US" sz="1400" dirty="0" err="1"/>
              <a:t>Várkonyi-Kóczy</a:t>
            </a:r>
            <a:r>
              <a:rPr lang="en-US" sz="1400" dirty="0"/>
              <a:t>, “Applications of XGBoost in water resources engineering: A systematic literature review (Dec 2018–May 2023),” </a:t>
            </a:r>
            <a:r>
              <a:rPr lang="en-US" sz="1400" i="1" dirty="0"/>
              <a:t>Environmental Modelling &amp; Software</a:t>
            </a:r>
            <a:r>
              <a:rPr lang="en-US" sz="1400" dirty="0"/>
              <a:t>, vol. 174, Art. no. 105971, 2024. </a:t>
            </a:r>
            <a:r>
              <a:rPr lang="en-US" sz="1400" dirty="0" err="1"/>
              <a:t>doi</a:t>
            </a:r>
            <a:r>
              <a:rPr lang="en-US" sz="1400" dirty="0"/>
              <a:t>: 10.1016/j.envsoft.2024.105971.</a:t>
            </a:r>
          </a:p>
          <a:p>
            <a:pPr marL="0" indent="0">
              <a:buNone/>
            </a:pPr>
            <a:r>
              <a:rPr lang="en-US" sz="1400" dirty="0"/>
              <a:t>[10] A. B. </a:t>
            </a:r>
            <a:r>
              <a:rPr lang="en-US" sz="1400" dirty="0" err="1"/>
              <a:t>Amendolara</a:t>
            </a:r>
            <a:r>
              <a:rPr lang="en-US" sz="1400" dirty="0"/>
              <a:t>, D. Sant, H. G. </a:t>
            </a:r>
            <a:r>
              <a:rPr lang="en-US" sz="1400" dirty="0" err="1"/>
              <a:t>Rotstein</a:t>
            </a:r>
            <a:r>
              <a:rPr lang="en-US" sz="1400" dirty="0"/>
              <a:t>, and E. Fortune, “LSTM-based recurrent neural network provides effective short-term flu forecasting,” </a:t>
            </a:r>
            <a:r>
              <a:rPr lang="en-US" sz="1400" i="1" dirty="0"/>
              <a:t>BMC Public Health</a:t>
            </a:r>
            <a:r>
              <a:rPr lang="en-US" sz="1400" dirty="0"/>
              <a:t>, vol. 23, Art. no. 1788, 2023. </a:t>
            </a:r>
            <a:r>
              <a:rPr lang="en-US" sz="1400" dirty="0" err="1"/>
              <a:t>doi</a:t>
            </a:r>
            <a:r>
              <a:rPr lang="en-US" sz="1400" dirty="0"/>
              <a:t>: 10.1186/s12889-023-16720-6.</a:t>
            </a:r>
          </a:p>
        </p:txBody>
      </p:sp>
      <p:sp>
        <p:nvSpPr>
          <p:cNvPr id="4" name="Slide Number Placeholder 3">
            <a:extLst>
              <a:ext uri="{FF2B5EF4-FFF2-40B4-BE49-F238E27FC236}">
                <a16:creationId xmlns:a16="http://schemas.microsoft.com/office/drawing/2014/main" id="{BB4083A3-B5C4-492D-8724-B72818FA431C}"/>
              </a:ext>
            </a:extLst>
          </p:cNvPr>
          <p:cNvSpPr>
            <a:spLocks noGrp="1"/>
          </p:cNvSpPr>
          <p:nvPr>
            <p:ph type="sldNum" sz="quarter" idx="12"/>
          </p:nvPr>
        </p:nvSpPr>
        <p:spPr/>
        <p:txBody>
          <a:bodyPr/>
          <a:lstStyle/>
          <a:p>
            <a:fld id="{71E90E32-7D5C-4934-A26B-D6DD83B0CD6B}" type="slidenum">
              <a:rPr lang="en-US" smtClean="0"/>
              <a:t>19</a:t>
            </a:fld>
            <a:endParaRPr lang="en-US"/>
          </a:p>
        </p:txBody>
      </p:sp>
    </p:spTree>
    <p:extLst>
      <p:ext uri="{BB962C8B-B14F-4D97-AF65-F5344CB8AC3E}">
        <p14:creationId xmlns:p14="http://schemas.microsoft.com/office/powerpoint/2010/main" val="1263928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5498</TotalTime>
  <Words>2588</Words>
  <Application>Microsoft Office PowerPoint</Application>
  <PresentationFormat>Widescreen</PresentationFormat>
  <Paragraphs>231</Paragraphs>
  <Slides>19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Bahnschrift Condensed</vt:lpstr>
      <vt:lpstr>Calibri</vt:lpstr>
      <vt:lpstr>Calibri Light</vt:lpstr>
      <vt:lpstr>Office Theme</vt:lpstr>
      <vt:lpstr>Rent Inflation Modelling the Spread of Rent Inflation across  Counties in the state of New York through a Combined Spatial Analysis and Diffusion Modeling Approach</vt:lpstr>
      <vt:lpstr>Introduction and Background </vt:lpstr>
      <vt:lpstr>Problems Arising</vt:lpstr>
      <vt:lpstr>Machine Learning Approach to Problems</vt:lpstr>
      <vt:lpstr>Data: Sources, Features and Feature Engineering</vt:lpstr>
      <vt:lpstr>Data: Sources, Features and Feature Engineering</vt:lpstr>
      <vt:lpstr>Methodology: Model Architecture: Diffusion Modelling - ConvLSTM(Inputs and Hidden States)</vt:lpstr>
      <vt:lpstr>Methodology Model Architecture: Diffusion Modeling - ConvLSTM (Outputs and Loss Optimization)</vt:lpstr>
      <vt:lpstr>Methodology Model Architecture: Time Series Modeling - XGBoost and LSTM</vt:lpstr>
      <vt:lpstr>Methodology: Features,  Targets and Preprocessing</vt:lpstr>
      <vt:lpstr>Exploratory Data Analysis</vt:lpstr>
      <vt:lpstr>Exploratory Data Analysis: Correlation</vt:lpstr>
      <vt:lpstr>Spatial Analysis (2001 to 2026)</vt:lpstr>
      <vt:lpstr>Results: Actual vs Predicted - Diffusion Modelling ConvLSTM</vt:lpstr>
      <vt:lpstr>Results: Model Forecasting Performance</vt:lpstr>
      <vt:lpstr>Results: Feature Importance</vt:lpstr>
      <vt:lpstr>Discussion</vt:lpstr>
      <vt:lpstr>Conclusion and Recommendations: Property Pricing and Property Development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 Inflation Modelling the Spread of Rent Inflation across  States in the US through a Combined Spatial  Analysis and Diffusion Modeling Approach</dc:title>
  <dc:creator> </dc:creator>
  <cp:lastModifiedBy>mohith.kandakatla@outlook.com</cp:lastModifiedBy>
  <cp:revision>160</cp:revision>
  <dcterms:created xsi:type="dcterms:W3CDTF">2026-03-21T18:31:03Z</dcterms:created>
  <dcterms:modified xsi:type="dcterms:W3CDTF">2026-06-02T21:48:50Z</dcterms:modified>
</cp:coreProperties>
</file>